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AgentRaaS sits between an AI agent and the real APIs it calls, and makes sure every action runs once, only within the rules set for that agent, and on the record. I will cover the problem, why it matters now, what it offers and how it works, how to get started, and where to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problem. Retrying is the right move for the agent, because it cannot tell a lost response from a failed call. But the API already did the work, so the retry becomes a duplicate: a double charge, a second email, a second refund. It is the easiest one to show, but the same agents can also be talked into actions they should never take, get stuck repeating a call, and leave nobody able to say what they did. One layer should handle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years ago agents mostly answered questions. Now, with tool calling and the Model Context Protocol, they take real actions. The software around them retries by default, which is correct for reads and dangerous for writes. Today every team patches this by hand. That gap is the opening for a shared reliability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platform does. Running each call once is where it started; action policies now decide what each agent may do at all, and one integration gives all six controls. Two of the newest: an agent's Stripe charge or Slack message can be undone once from the dashboard, and a recorded run can be replayed in tests without calling the providers again. Everything here is built and running in the product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call from an agent passes the same pipeline. It is identified, its payload is checked, a dedup slot is claimed, caps and approval rules apply, it is forwarded exactly once with the customer's own credentials, and the outcome is recorded. The agent code does not change; only the address it calls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product. The first time a call arrives, AgentRaaS atomically claims a slot for it, runs the real API once and stores the result. Every later copy of that call finds the slot taken and gets the stored result back. Because the claim is atomic and shared, it works even when many workers race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newest controls. If an agent did something it should not have, the undo log reverses it: a Stripe refund, a Slack delete, or the reverse action you define for your own actions, sent once with its own idempotency key. Record and replay lets a team test an agent against what real providers answered, without calling them again and without paying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free tools, with no account: the chaos tester finds duplicate-call bugs, library mode and MCP wrap fix them in-process. When a team needs this across machines, they self-host the platform, also free, with no limit on actions, and with human approvals and SSO included. It installs with one command on Linux, macOS or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Anything in the request path has to be fast and trusted. The measured overhead is about two milliseconds. The core is written in Rust. All of the code is public and the core is AGPL-3.0, which matters when the product guards payments, and teams with strict data rules can run it on their own servers next to their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product in the payment path holds the keys to those payments, so where they live matters. By default every stored key is encrypted, and agents never see them. Self-hosted, the master key can sit in the company's own KMS: Vault, AWS, Google Cloud or Azure, so a leaked backup or config file is useless. Enterprise customers can go one step further and never give AgentRaaS the keys at all: they save a reference, and the key is fetched from their own secrets manager per call and never stored. That is what security reviews at banks and larger companies ask for. It is self-hosted only, because on a shared server one customer's identity could reach another's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 code is public. The server is AGPL-3.0, so anyone can run and change it, with no license key and no limit on actions. The team features, like human approvals and SSO, are source-available and free to run in production on your own servers. Only the Enterprise features, like agent identity, white-label and secret references, need a license. The SDKs and tools are MIT or Apache-2.0.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this talk is available today. The gateway runs in production, 31 services such as Stripe, Slack, GitHub and Alpaca connect by pasting a key, the Python SDK is on PyPI and the TypeScript SDK on npm. The live demo on agentraas.io needs no signup, and it can be self-hosted at no cost on Linux, macOS or Windows, with no limit on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to see the problem is to run the chaos tester against your own agent: it shows every call that would run twice. The live demo on agentraas.io shows a real dashboard with no signup, the package is free on PyPI, and the docs cover self-hosting. The two codes open the website and the GitHub repository.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6191E"/>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0761"/>
            <a:ext cx="10566400" cy="4084439"/>
          </a:xfrm>
          <a:prstGeom prst="rect">
            <a:avLst/>
          </a:prstGeom>
          <a:noFill/>
          <a:ln/>
        </p:spPr>
        <p:txBody>
          <a:bodyPr wrap="square" lIns="0" tIns="0" rIns="0" bIns="0" rtlCol="0" anchor="t"/>
          <a:lstStyle>
            <a:lvl1pPr algn="l" indent="0" marL="0">
              <a:lnSpc>
                <a:spcPct val="140000"/>
              </a:lnSpc>
              <a:buNone/>
              <a:defRPr lang="en-US" sz="1600" dirty="0">
                <a:solidFill>
                  <a:srgbClr val="16191E"/>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6191E"/>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60761"/>
            <a:ext cx="10566400" cy="4084439"/>
          </a:xfrm>
          <a:prstGeom prst="rect">
            <a:avLst/>
          </a:prstGeom>
          <a:noFill/>
          <a:ln/>
        </p:spPr>
        <p:txBody>
          <a:bodyPr wrap="square" lIns="0" tIns="0" rIns="0" bIns="0" rtlCol="0" anchor="t"/>
          <a:lstStyle>
            <a:lvl1pPr algn="l" indent="0" marL="0">
              <a:lnSpc>
                <a:spcPct val="140000"/>
              </a:lnSpc>
              <a:buNone/>
              <a:defRPr lang="en-US" sz="1600" dirty="0">
                <a:solidFill>
                  <a:srgbClr val="16191E"/>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9150" y="1715889"/>
            <a:ext cx="850900" cy="850900"/>
          </a:xfrm>
          <a:prstGeom prst="roundRect">
            <a:avLst>
              <a:gd name="adj" fmla="val 23134"/>
            </a:avLst>
          </a:prstGeom>
          <a:solidFill>
            <a:srgbClr val="1E2229"/>
          </a:solidFill>
          <a:ln w="12700">
            <a:solidFill>
              <a:srgbClr val="2E343C"/>
            </a:solidFill>
            <a:prstDash val="solid"/>
          </a:ln>
        </p:spPr>
      </p:sp>
      <p:pic>
        <p:nvPicPr>
          <p:cNvPr id="3" name="Image 0" descr="ellipse">    </p:cNvPr>
          <p:cNvPicPr>
            <a:picLocks noChangeAspect="1"/>
          </p:cNvPicPr>
          <p:nvPr/>
        </p:nvPicPr>
        <p:blipFill>
          <a:blip r:embed="rId1"/>
          <a:srcRect l="0" r="0" t="0" b="0"/>
          <a:stretch/>
        </p:blipFill>
        <p:spPr>
          <a:xfrm>
            <a:off x="939800" y="1950839"/>
            <a:ext cx="381000" cy="381000"/>
          </a:xfrm>
          <a:prstGeom prst="rect">
            <a:avLst/>
          </a:prstGeom>
        </p:spPr>
      </p:pic>
      <p:pic>
        <p:nvPicPr>
          <p:cNvPr id="4" name="Image 1" descr="ellipse">    </p:cNvPr>
          <p:cNvPicPr>
            <a:picLocks noChangeAspect="1"/>
          </p:cNvPicPr>
          <p:nvPr/>
        </p:nvPicPr>
        <p:blipFill>
          <a:blip r:embed="rId2"/>
          <a:srcRect l="0" r="0" t="0" b="0"/>
          <a:stretch/>
        </p:blipFill>
        <p:spPr>
          <a:xfrm>
            <a:off x="1181100" y="1950839"/>
            <a:ext cx="381000" cy="381000"/>
          </a:xfrm>
          <a:prstGeom prst="rect">
            <a:avLst/>
          </a:prstGeom>
        </p:spPr>
      </p:pic>
      <p:sp>
        <p:nvSpPr>
          <p:cNvPr id="5" name="Text 1"/>
          <p:cNvSpPr/>
          <p:nvPr>
            <p:ph type="title"/>
          </p:nvPr>
        </p:nvSpPr>
        <p:spPr>
          <a:xfrm>
            <a:off x="812800" y="287793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16191E"/>
                </a:solidFill>
                <a:latin typeface="Arial" pitchFamily="34" charset="0"/>
                <a:ea typeface="Arial" pitchFamily="34" charset="-122"/>
                <a:cs typeface="Arial" pitchFamily="34" charset="-120"/>
              </a:rPr>
              <a:t>AgentRaaS</a:t>
            </a:r>
            <a:endParaRPr lang="en-US" sz="6000" dirty="0"/>
          </a:p>
        </p:txBody>
      </p:sp>
      <p:sp>
        <p:nvSpPr>
          <p:cNvPr id="6" name="Text 2"/>
          <p:cNvSpPr/>
          <p:nvPr/>
        </p:nvSpPr>
        <p:spPr>
          <a:xfrm>
            <a:off x="812800" y="3855839"/>
            <a:ext cx="8502650" cy="1114822"/>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A5058"/>
                </a:solidFill>
                <a:latin typeface="Arial" pitchFamily="34" charset="0"/>
                <a:ea typeface="Arial" pitchFamily="34" charset="-122"/>
                <a:cs typeface="Arial" pitchFamily="34" charset="-120"/>
              </a:rPr>
              <a:t>The reliability layer for AI agents that take real actions: every call runs once, within the rules you set, risky calls wait for a human, and every action is on the record.</a:t>
            </a:r>
            <a:endParaRPr lang="en-US" sz="2200" dirty="0"/>
          </a:p>
        </p:txBody>
      </p:sp>
      <p:sp>
        <p:nvSpPr>
          <p:cNvPr id="7"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Arial" pitchFamily="34" charset="0"/>
                <a:ea typeface="Arial" pitchFamily="34" charset="-122"/>
                <a:cs typeface="Arial" pitchFamily="34" charset="-120"/>
              </a:rPr>
              <a:t>agentraas.io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6A08"/>
                </a:solidFill>
                <a:latin typeface="Arial" pitchFamily="34" charset="0"/>
                <a:ea typeface="Arial" pitchFamily="34" charset="-122"/>
                <a:cs typeface="Arial" pitchFamily="34" charset="-120"/>
              </a:rPr>
              <a:t>THE PROBLEM</a:t>
            </a:r>
            <a:endParaRPr lang="en-US" sz="1200" dirty="0"/>
          </a:p>
        </p:txBody>
      </p:sp>
      <p:sp>
        <p:nvSpPr>
          <p:cNvPr id="3" name="Text 1"/>
          <p:cNvSpPr/>
          <p:nvPr>
            <p:ph type="title"/>
          </p:nvPr>
        </p:nvSpPr>
        <p:spPr>
          <a:xfrm>
            <a:off x="812800" y="1153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E"/>
                </a:solidFill>
                <a:latin typeface="Arial" pitchFamily="34" charset="0"/>
                <a:ea typeface="Arial" pitchFamily="34" charset="-122"/>
                <a:cs typeface="Arial" pitchFamily="34" charset="-120"/>
              </a:rPr>
              <a:t>A retry can become a second charge</a:t>
            </a:r>
            <a:endParaRPr lang="en-US" sz="3600" dirty="0"/>
          </a:p>
        </p:txBody>
      </p:sp>
      <p:sp>
        <p:nvSpPr>
          <p:cNvPr id="4" name="Shape 2"/>
          <p:cNvSpPr/>
          <p:nvPr/>
        </p:nvSpPr>
        <p:spPr>
          <a:xfrm>
            <a:off x="815975" y="2656284"/>
            <a:ext cx="3045817" cy="1616571"/>
          </a:xfrm>
          <a:prstGeom prst="roundRect">
            <a:avLst>
              <a:gd name="adj" fmla="val 7660"/>
            </a:avLst>
          </a:prstGeom>
          <a:solidFill>
            <a:srgbClr val="F7F6F2"/>
          </a:solidFill>
          <a:ln w="6350">
            <a:solidFill>
              <a:srgbClr val="DDD8CC"/>
            </a:solidFill>
            <a:prstDash val="solid"/>
          </a:ln>
        </p:spPr>
      </p:sp>
      <p:sp>
        <p:nvSpPr>
          <p:cNvPr id="5" name="Text 3"/>
          <p:cNvSpPr/>
          <p:nvPr/>
        </p:nvSpPr>
        <p:spPr>
          <a:xfrm>
            <a:off x="1073150" y="2913459"/>
            <a:ext cx="260741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1073150" y="3228380"/>
            <a:ext cx="26074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The API call succeeds</a:t>
            </a:r>
            <a:endParaRPr lang="en-US" sz="1600" dirty="0"/>
          </a:p>
        </p:txBody>
      </p:sp>
      <p:sp>
        <p:nvSpPr>
          <p:cNvPr id="7" name="Text 5"/>
          <p:cNvSpPr/>
          <p:nvPr/>
        </p:nvSpPr>
        <p:spPr>
          <a:xfrm>
            <a:off x="1073150" y="3573760"/>
            <a:ext cx="2607411"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Stripe charges the card. The response is on its way back.</a:t>
            </a:r>
            <a:endParaRPr lang="en-US" sz="1200" dirty="0"/>
          </a:p>
        </p:txBody>
      </p:sp>
      <p:pic>
        <p:nvPicPr>
          <p:cNvPr id="8" name="Image 0" descr="arrow-right">    </p:cNvPr>
          <p:cNvPicPr>
            <a:picLocks noChangeAspect="1"/>
          </p:cNvPicPr>
          <p:nvPr/>
        </p:nvPicPr>
        <p:blipFill>
          <a:blip r:embed="rId1"/>
          <a:srcRect l="0" r="0" t="0" b="0"/>
          <a:stretch/>
        </p:blipFill>
        <p:spPr>
          <a:xfrm>
            <a:off x="4017367" y="3362920"/>
            <a:ext cx="406400" cy="203200"/>
          </a:xfrm>
          <a:prstGeom prst="rect">
            <a:avLst/>
          </a:prstGeom>
        </p:spPr>
      </p:pic>
      <p:sp>
        <p:nvSpPr>
          <p:cNvPr id="9" name="Shape 6"/>
          <p:cNvSpPr/>
          <p:nvPr/>
        </p:nvSpPr>
        <p:spPr>
          <a:xfrm>
            <a:off x="4579342" y="2656284"/>
            <a:ext cx="3045916" cy="1616571"/>
          </a:xfrm>
          <a:prstGeom prst="roundRect">
            <a:avLst>
              <a:gd name="adj" fmla="val 7660"/>
            </a:avLst>
          </a:prstGeom>
          <a:solidFill>
            <a:srgbClr val="F7F6F2"/>
          </a:solidFill>
          <a:ln w="6350">
            <a:solidFill>
              <a:srgbClr val="DDD8CC"/>
            </a:solidFill>
            <a:prstDash val="solid"/>
          </a:ln>
        </p:spPr>
      </p:sp>
      <p:sp>
        <p:nvSpPr>
          <p:cNvPr id="10" name="Text 7"/>
          <p:cNvSpPr/>
          <p:nvPr/>
        </p:nvSpPr>
        <p:spPr>
          <a:xfrm>
            <a:off x="4836517" y="2913459"/>
            <a:ext cx="26075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2</a:t>
            </a:r>
            <a:endParaRPr lang="en-US" sz="1200" dirty="0"/>
          </a:p>
        </p:txBody>
      </p:sp>
      <p:sp>
        <p:nvSpPr>
          <p:cNvPr id="11" name="Text 8"/>
          <p:cNvSpPr/>
          <p:nvPr/>
        </p:nvSpPr>
        <p:spPr>
          <a:xfrm>
            <a:off x="4836517" y="3228380"/>
            <a:ext cx="26075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The response is lost</a:t>
            </a:r>
            <a:endParaRPr lang="en-US" sz="1600" dirty="0"/>
          </a:p>
        </p:txBody>
      </p:sp>
      <p:sp>
        <p:nvSpPr>
          <p:cNvPr id="12" name="Text 9"/>
          <p:cNvSpPr/>
          <p:nvPr/>
        </p:nvSpPr>
        <p:spPr>
          <a:xfrm>
            <a:off x="4836517" y="3573760"/>
            <a:ext cx="260751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A timeout, a dropped connection, a crashed worker.</a:t>
            </a:r>
            <a:endParaRPr lang="en-US" sz="1200" dirty="0"/>
          </a:p>
        </p:txBody>
      </p:sp>
      <p:pic>
        <p:nvPicPr>
          <p:cNvPr id="13" name="Image 1" descr="arrow-right">    </p:cNvPr>
          <p:cNvPicPr>
            <a:picLocks noChangeAspect="1"/>
          </p:cNvPicPr>
          <p:nvPr/>
        </p:nvPicPr>
        <p:blipFill>
          <a:blip r:embed="rId2"/>
          <a:srcRect l="0" r="0" t="0" b="0"/>
          <a:stretch/>
        </p:blipFill>
        <p:spPr>
          <a:xfrm>
            <a:off x="7780834" y="3362920"/>
            <a:ext cx="406400" cy="203200"/>
          </a:xfrm>
          <a:prstGeom prst="rect">
            <a:avLst/>
          </a:prstGeom>
        </p:spPr>
      </p:pic>
      <p:sp>
        <p:nvSpPr>
          <p:cNvPr id="14" name="Shape 10"/>
          <p:cNvSpPr/>
          <p:nvPr/>
        </p:nvSpPr>
        <p:spPr>
          <a:xfrm>
            <a:off x="8339634" y="2659459"/>
            <a:ext cx="3039566" cy="1610221"/>
          </a:xfrm>
          <a:prstGeom prst="roundRect">
            <a:avLst>
              <a:gd name="adj" fmla="val 7887"/>
            </a:avLst>
          </a:prstGeom>
          <a:solidFill>
            <a:srgbClr val="16191E"/>
          </a:solidFill>
          <a:ln/>
        </p:spPr>
      </p:sp>
      <p:sp>
        <p:nvSpPr>
          <p:cNvPr id="15" name="Text 11"/>
          <p:cNvSpPr/>
          <p:nvPr/>
        </p:nvSpPr>
        <p:spPr>
          <a:xfrm>
            <a:off x="8593634" y="2913459"/>
            <a:ext cx="26075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544"/>
                </a:solidFill>
                <a:latin typeface="Arial" pitchFamily="34" charset="0"/>
                <a:ea typeface="Arial" pitchFamily="34" charset="-122"/>
                <a:cs typeface="Arial" pitchFamily="34" charset="-120"/>
              </a:rPr>
              <a:t>3</a:t>
            </a:r>
            <a:endParaRPr lang="en-US" sz="1200" dirty="0"/>
          </a:p>
        </p:txBody>
      </p:sp>
      <p:sp>
        <p:nvSpPr>
          <p:cNvPr id="16" name="Text 12"/>
          <p:cNvSpPr/>
          <p:nvPr/>
        </p:nvSpPr>
        <p:spPr>
          <a:xfrm>
            <a:off x="8593634" y="3228380"/>
            <a:ext cx="260751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CEFF3"/>
                </a:solidFill>
                <a:latin typeface="Arial" pitchFamily="34" charset="0"/>
                <a:ea typeface="Arial" pitchFamily="34" charset="-122"/>
                <a:cs typeface="Arial" pitchFamily="34" charset="-120"/>
              </a:rPr>
              <a:t>The agent retries</a:t>
            </a:r>
            <a:endParaRPr lang="en-US" sz="1600" dirty="0"/>
          </a:p>
        </p:txBody>
      </p:sp>
      <p:sp>
        <p:nvSpPr>
          <p:cNvPr id="17" name="Text 13"/>
          <p:cNvSpPr/>
          <p:nvPr/>
        </p:nvSpPr>
        <p:spPr>
          <a:xfrm>
            <a:off x="8593634" y="3573760"/>
            <a:ext cx="260751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C0CB"/>
                </a:solidFill>
                <a:latin typeface="Arial" pitchFamily="34" charset="0"/>
                <a:ea typeface="Arial" pitchFamily="34" charset="-122"/>
                <a:cs typeface="Arial" pitchFamily="34" charset="-120"/>
              </a:rPr>
              <a:t>The card is charged twice. The customer finds out first.</a:t>
            </a:r>
            <a:endParaRPr lang="en-US" sz="1200" dirty="0"/>
          </a:p>
        </p:txBody>
      </p:sp>
      <p:sp>
        <p:nvSpPr>
          <p:cNvPr id="18" name="Text 14"/>
          <p:cNvSpPr/>
          <p:nvPr/>
        </p:nvSpPr>
        <p:spPr>
          <a:xfrm>
            <a:off x="812800" y="5273080"/>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058"/>
                </a:solidFill>
                <a:latin typeface="Arial" pitchFamily="34" charset="0"/>
                <a:ea typeface="Arial" pitchFamily="34" charset="-122"/>
                <a:cs typeface="Arial" pitchFamily="34" charset="-120"/>
              </a:rPr>
              <a:t>The most common failure, not the only one: agents also act outside their remit (a prompt-injected email to a stranger), loop on the same call, and leave no record anyone can audit.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6A08"/>
                </a:solidFill>
                <a:latin typeface="Arial" pitchFamily="34" charset="0"/>
                <a:ea typeface="Arial" pitchFamily="34" charset="-122"/>
                <a:cs typeface="Arial" pitchFamily="34" charset="-120"/>
              </a:rPr>
              <a:t>WHY NOW</a:t>
            </a:r>
            <a:endParaRPr lang="en-US" sz="1200" dirty="0"/>
          </a:p>
        </p:txBody>
      </p:sp>
      <p:sp>
        <p:nvSpPr>
          <p:cNvPr id="3" name="Text 1"/>
          <p:cNvSpPr/>
          <p:nvPr>
            <p:ph type="title"/>
          </p:nvPr>
        </p:nvSpPr>
        <p:spPr>
          <a:xfrm>
            <a:off x="812800" y="1153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E"/>
                </a:solidFill>
                <a:latin typeface="Arial" pitchFamily="34" charset="0"/>
                <a:ea typeface="Arial" pitchFamily="34" charset="-122"/>
                <a:cs typeface="Arial" pitchFamily="34" charset="-120"/>
              </a:rPr>
              <a:t>Agents have started acting, not just answering</a:t>
            </a:r>
            <a:endParaRPr lang="en-US" sz="3600" dirty="0"/>
          </a:p>
        </p:txBody>
      </p:sp>
      <p:sp>
        <p:nvSpPr>
          <p:cNvPr id="4" name="Shape 2"/>
          <p:cNvSpPr/>
          <p:nvPr/>
        </p:nvSpPr>
        <p:spPr>
          <a:xfrm>
            <a:off x="815975" y="2014736"/>
            <a:ext cx="3384550" cy="4027289"/>
          </a:xfrm>
          <a:prstGeom prst="roundRect">
            <a:avLst>
              <a:gd name="adj" fmla="val 3659"/>
            </a:avLst>
          </a:prstGeom>
          <a:solidFill>
            <a:srgbClr val="F7F6F2"/>
          </a:solidFill>
          <a:ln w="6350">
            <a:solidFill>
              <a:srgbClr val="E4E2DC"/>
            </a:solidFill>
            <a:prstDash val="solid"/>
          </a:ln>
        </p:spPr>
      </p:sp>
      <p:pic>
        <p:nvPicPr>
          <p:cNvPr id="5" name="Image 0" descr="Tool">    </p:cNvPr>
          <p:cNvPicPr>
            <a:picLocks noChangeAspect="1"/>
          </p:cNvPicPr>
          <p:nvPr/>
        </p:nvPicPr>
        <p:blipFill>
          <a:blip r:embed="rId1"/>
          <a:srcRect l="0" r="0" t="0" b="0"/>
          <a:stretch/>
        </p:blipFill>
        <p:spPr>
          <a:xfrm>
            <a:off x="1073150" y="2271911"/>
            <a:ext cx="304800" cy="304800"/>
          </a:xfrm>
          <a:prstGeom prst="rect">
            <a:avLst/>
          </a:prstGeom>
        </p:spPr>
      </p:pic>
      <p:sp>
        <p:nvSpPr>
          <p:cNvPr id="6" name="Text 3"/>
          <p:cNvSpPr/>
          <p:nvPr/>
        </p:nvSpPr>
        <p:spPr>
          <a:xfrm>
            <a:off x="1073150" y="2703711"/>
            <a:ext cx="29563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Tools gave agents hands</a:t>
            </a:r>
            <a:endParaRPr lang="en-US" sz="1600" dirty="0"/>
          </a:p>
        </p:txBody>
      </p:sp>
      <p:sp>
        <p:nvSpPr>
          <p:cNvPr id="7" name="Text 4"/>
          <p:cNvSpPr/>
          <p:nvPr/>
        </p:nvSpPr>
        <p:spPr>
          <a:xfrm>
            <a:off x="1073150" y="3074491"/>
            <a:ext cx="295630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058"/>
                </a:solidFill>
                <a:latin typeface="Arial" pitchFamily="34" charset="0"/>
                <a:ea typeface="Arial" pitchFamily="34" charset="-122"/>
                <a:cs typeface="Arial" pitchFamily="34" charset="-120"/>
              </a:rPr>
              <a:t>Through tool calling and MCP, agents now move money, send email, update CRMs and file tickets on their own.</a:t>
            </a:r>
            <a:endParaRPr lang="en-US" sz="1200" dirty="0"/>
          </a:p>
        </p:txBody>
      </p:sp>
      <p:sp>
        <p:nvSpPr>
          <p:cNvPr id="8" name="Shape 5"/>
          <p:cNvSpPr/>
          <p:nvPr/>
        </p:nvSpPr>
        <p:spPr>
          <a:xfrm>
            <a:off x="4410075" y="2014736"/>
            <a:ext cx="3384550" cy="4027289"/>
          </a:xfrm>
          <a:prstGeom prst="roundRect">
            <a:avLst>
              <a:gd name="adj" fmla="val 3659"/>
            </a:avLst>
          </a:prstGeom>
          <a:solidFill>
            <a:srgbClr val="F7F6F2"/>
          </a:solidFill>
          <a:ln w="6350">
            <a:solidFill>
              <a:srgbClr val="E4E2DC"/>
            </a:solidFill>
            <a:prstDash val="solid"/>
          </a:ln>
        </p:spPr>
      </p:sp>
      <p:pic>
        <p:nvPicPr>
          <p:cNvPr id="9" name="Image 1" descr="Warning">    </p:cNvPr>
          <p:cNvPicPr>
            <a:picLocks noChangeAspect="1"/>
          </p:cNvPicPr>
          <p:nvPr/>
        </p:nvPicPr>
        <p:blipFill>
          <a:blip r:embed="rId2"/>
          <a:srcRect l="0" r="0" t="0" b="0"/>
          <a:stretch/>
        </p:blipFill>
        <p:spPr>
          <a:xfrm>
            <a:off x="4667250" y="2271911"/>
            <a:ext cx="304800" cy="304800"/>
          </a:xfrm>
          <a:prstGeom prst="rect">
            <a:avLst/>
          </a:prstGeom>
        </p:spPr>
      </p:pic>
      <p:sp>
        <p:nvSpPr>
          <p:cNvPr id="10" name="Text 6"/>
          <p:cNvSpPr/>
          <p:nvPr/>
        </p:nvSpPr>
        <p:spPr>
          <a:xfrm>
            <a:off x="4667250" y="2703711"/>
            <a:ext cx="29563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Retries are built in</a:t>
            </a:r>
            <a:endParaRPr lang="en-US" sz="1600" dirty="0"/>
          </a:p>
        </p:txBody>
      </p:sp>
      <p:sp>
        <p:nvSpPr>
          <p:cNvPr id="11" name="Text 7"/>
          <p:cNvSpPr/>
          <p:nvPr/>
        </p:nvSpPr>
        <p:spPr>
          <a:xfrm>
            <a:off x="4667250" y="3074491"/>
            <a:ext cx="295630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058"/>
                </a:solidFill>
                <a:latin typeface="Arial" pitchFamily="34" charset="0"/>
                <a:ea typeface="Arial" pitchFamily="34" charset="-122"/>
                <a:cs typeface="Arial" pitchFamily="34" charset="-120"/>
              </a:rPr>
              <a:t>Frameworks, queues and HTTP clients retry automatically, so duplicate actions are the default failure, not an edge case.</a:t>
            </a:r>
            <a:endParaRPr lang="en-US" sz="1200" dirty="0"/>
          </a:p>
        </p:txBody>
      </p:sp>
      <p:sp>
        <p:nvSpPr>
          <p:cNvPr id="12" name="Shape 8"/>
          <p:cNvSpPr/>
          <p:nvPr/>
        </p:nvSpPr>
        <p:spPr>
          <a:xfrm>
            <a:off x="8001000" y="2011561"/>
            <a:ext cx="3378200" cy="4033639"/>
          </a:xfrm>
          <a:prstGeom prst="roundRect">
            <a:avLst>
              <a:gd name="adj" fmla="val 3759"/>
            </a:avLst>
          </a:prstGeom>
          <a:solidFill>
            <a:srgbClr val="16191E"/>
          </a:solidFill>
          <a:ln/>
        </p:spPr>
      </p:sp>
      <p:pic>
        <p:nvPicPr>
          <p:cNvPr id="13" name="Image 2" descr="Wrench">    </p:cNvPr>
          <p:cNvPicPr>
            <a:picLocks noChangeAspect="1"/>
          </p:cNvPicPr>
          <p:nvPr/>
        </p:nvPicPr>
        <p:blipFill>
          <a:blip r:embed="rId3"/>
          <a:srcRect l="0" r="0" t="0" b="0"/>
          <a:stretch/>
        </p:blipFill>
        <p:spPr>
          <a:xfrm>
            <a:off x="8255000" y="2265561"/>
            <a:ext cx="304800" cy="304800"/>
          </a:xfrm>
          <a:prstGeom prst="rect">
            <a:avLst/>
          </a:prstGeom>
        </p:spPr>
      </p:pic>
      <p:sp>
        <p:nvSpPr>
          <p:cNvPr id="14" name="Text 9"/>
          <p:cNvSpPr/>
          <p:nvPr/>
        </p:nvSpPr>
        <p:spPr>
          <a:xfrm>
            <a:off x="8255000" y="2697361"/>
            <a:ext cx="29563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CEFF3"/>
                </a:solidFill>
                <a:latin typeface="Arial" pitchFamily="34" charset="0"/>
                <a:ea typeface="Arial" pitchFamily="34" charset="-122"/>
                <a:cs typeface="Arial" pitchFamily="34" charset="-120"/>
              </a:rPr>
              <a:t>Every team rebuilds it</a:t>
            </a:r>
            <a:endParaRPr lang="en-US" sz="1600" dirty="0"/>
          </a:p>
        </p:txBody>
      </p:sp>
      <p:sp>
        <p:nvSpPr>
          <p:cNvPr id="15" name="Text 10"/>
          <p:cNvSpPr/>
          <p:nvPr/>
        </p:nvSpPr>
        <p:spPr>
          <a:xfrm>
            <a:off x="8255000" y="3068141"/>
            <a:ext cx="295630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8C0CB"/>
                </a:solidFill>
                <a:latin typeface="Arial" pitchFamily="34" charset="0"/>
                <a:ea typeface="Arial" pitchFamily="34" charset="-122"/>
                <a:cs typeface="Arial" pitchFamily="34" charset="-120"/>
              </a:rPr>
              <a:t>Idempotency, approval steps and action logs get hand-built per agent, per API. There is no shared layer for it yet.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6A08"/>
                </a:solidFill>
                <a:latin typeface="Arial" pitchFamily="34" charset="0"/>
                <a:ea typeface="Arial" pitchFamily="34" charset="-122"/>
                <a:cs typeface="Arial" pitchFamily="34" charset="-120"/>
              </a:rPr>
              <a:t>WHAT WE OFFER</a:t>
            </a:r>
            <a:endParaRPr lang="en-US" sz="1200" dirty="0"/>
          </a:p>
        </p:txBody>
      </p:sp>
      <p:sp>
        <p:nvSpPr>
          <p:cNvPr id="3" name="Text 1"/>
          <p:cNvSpPr/>
          <p:nvPr>
            <p:ph type="title"/>
          </p:nvPr>
        </p:nvSpPr>
        <p:spPr>
          <a:xfrm>
            <a:off x="812800" y="1153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E"/>
                </a:solidFill>
                <a:latin typeface="Arial" pitchFamily="34" charset="0"/>
                <a:ea typeface="Arial" pitchFamily="34" charset="-122"/>
                <a:cs typeface="Arial" pitchFamily="34" charset="-120"/>
              </a:rPr>
              <a:t>Six controls in one layer</a:t>
            </a:r>
            <a:endParaRPr lang="en-US" sz="3600" dirty="0"/>
          </a:p>
        </p:txBody>
      </p:sp>
      <p:sp>
        <p:nvSpPr>
          <p:cNvPr id="4" name="Shape 2"/>
          <p:cNvSpPr/>
          <p:nvPr/>
        </p:nvSpPr>
        <p:spPr>
          <a:xfrm>
            <a:off x="815975" y="1963936"/>
            <a:ext cx="3397250" cy="1946970"/>
          </a:xfrm>
          <a:prstGeom prst="roundRect">
            <a:avLst>
              <a:gd name="adj" fmla="val 6360"/>
            </a:avLst>
          </a:prstGeom>
          <a:solidFill>
            <a:srgbClr val="F7F6F2"/>
          </a:solidFill>
          <a:ln w="6350">
            <a:solidFill>
              <a:srgbClr val="E4E2DC"/>
            </a:solidFill>
            <a:prstDash val="solid"/>
          </a:ln>
        </p:spPr>
      </p:sp>
      <p:pic>
        <p:nvPicPr>
          <p:cNvPr id="5" name="Image 0" descr="CheckCircle">    </p:cNvPr>
          <p:cNvPicPr>
            <a:picLocks noChangeAspect="1"/>
          </p:cNvPicPr>
          <p:nvPr/>
        </p:nvPicPr>
        <p:blipFill>
          <a:blip r:embed="rId1"/>
          <a:srcRect l="0" r="0" t="0" b="0"/>
          <a:stretch/>
        </p:blipFill>
        <p:spPr>
          <a:xfrm>
            <a:off x="1047750" y="2195711"/>
            <a:ext cx="254000" cy="254000"/>
          </a:xfrm>
          <a:prstGeom prst="rect">
            <a:avLst/>
          </a:prstGeom>
        </p:spPr>
      </p:pic>
      <p:sp>
        <p:nvSpPr>
          <p:cNvPr id="6" name="Text 3"/>
          <p:cNvSpPr/>
          <p:nvPr/>
        </p:nvSpPr>
        <p:spPr>
          <a:xfrm>
            <a:off x="1403350" y="2200771"/>
            <a:ext cx="124646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Runs once</a:t>
            </a:r>
            <a:endParaRPr lang="en-US" sz="1600" dirty="0"/>
          </a:p>
        </p:txBody>
      </p:sp>
      <p:sp>
        <p:nvSpPr>
          <p:cNvPr id="7" name="Text 4"/>
          <p:cNvSpPr/>
          <p:nvPr/>
        </p:nvSpPr>
        <p:spPr>
          <a:xfrm>
            <a:off x="1047750" y="2538611"/>
            <a:ext cx="302171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Atomic dedup, near-duplicate matching, and step checkpoints so a failed run resumes, not repeats.</a:t>
            </a:r>
            <a:endParaRPr lang="en-US" sz="1200" dirty="0"/>
          </a:p>
        </p:txBody>
      </p:sp>
      <p:sp>
        <p:nvSpPr>
          <p:cNvPr id="8" name="Shape 5"/>
          <p:cNvSpPr/>
          <p:nvPr/>
        </p:nvSpPr>
        <p:spPr>
          <a:xfrm>
            <a:off x="4397375" y="1963936"/>
            <a:ext cx="3397250" cy="1946970"/>
          </a:xfrm>
          <a:prstGeom prst="roundRect">
            <a:avLst>
              <a:gd name="adj" fmla="val 6360"/>
            </a:avLst>
          </a:prstGeom>
          <a:solidFill>
            <a:srgbClr val="F7F6F2"/>
          </a:solidFill>
          <a:ln w="6350">
            <a:solidFill>
              <a:srgbClr val="E4E2DC"/>
            </a:solidFill>
            <a:prstDash val="solid"/>
          </a:ln>
        </p:spPr>
      </p:sp>
      <p:pic>
        <p:nvPicPr>
          <p:cNvPr id="9" name="Image 1" descr="Users">    </p:cNvPr>
          <p:cNvPicPr>
            <a:picLocks noChangeAspect="1"/>
          </p:cNvPicPr>
          <p:nvPr/>
        </p:nvPicPr>
        <p:blipFill>
          <a:blip r:embed="rId2"/>
          <a:srcRect l="0" r="0" t="0" b="0"/>
          <a:stretch/>
        </p:blipFill>
        <p:spPr>
          <a:xfrm>
            <a:off x="4629150" y="2195711"/>
            <a:ext cx="254000" cy="254000"/>
          </a:xfrm>
          <a:prstGeom prst="rect">
            <a:avLst/>
          </a:prstGeom>
        </p:spPr>
      </p:pic>
      <p:sp>
        <p:nvSpPr>
          <p:cNvPr id="10" name="Text 6"/>
          <p:cNvSpPr/>
          <p:nvPr/>
        </p:nvSpPr>
        <p:spPr>
          <a:xfrm>
            <a:off x="4984750" y="2200771"/>
            <a:ext cx="191047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Human approval</a:t>
            </a:r>
            <a:endParaRPr lang="en-US" sz="1600" dirty="0"/>
          </a:p>
        </p:txBody>
      </p:sp>
      <p:sp>
        <p:nvSpPr>
          <p:cNvPr id="11" name="Text 7"/>
          <p:cNvSpPr/>
          <p:nvPr/>
        </p:nvSpPr>
        <p:spPr>
          <a:xfrm>
            <a:off x="4629150" y="2538611"/>
            <a:ext cx="302171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Risky calls wait for a person to approve in Slack, Teams, Telegram, Discord, email or the dashboard.</a:t>
            </a:r>
            <a:endParaRPr lang="en-US" sz="1200" dirty="0"/>
          </a:p>
        </p:txBody>
      </p:sp>
      <p:sp>
        <p:nvSpPr>
          <p:cNvPr id="12" name="Shape 8"/>
          <p:cNvSpPr/>
          <p:nvPr/>
        </p:nvSpPr>
        <p:spPr>
          <a:xfrm>
            <a:off x="7978775" y="1963936"/>
            <a:ext cx="3397250" cy="1946970"/>
          </a:xfrm>
          <a:prstGeom prst="roundRect">
            <a:avLst>
              <a:gd name="adj" fmla="val 6360"/>
            </a:avLst>
          </a:prstGeom>
          <a:solidFill>
            <a:srgbClr val="F7F6F2"/>
          </a:solidFill>
          <a:ln w="6350">
            <a:solidFill>
              <a:srgbClr val="E4E2DC"/>
            </a:solidFill>
            <a:prstDash val="solid"/>
          </a:ln>
        </p:spPr>
      </p:sp>
      <p:pic>
        <p:nvPicPr>
          <p:cNvPr id="13" name="Image 2" descr="Activity">    </p:cNvPr>
          <p:cNvPicPr>
            <a:picLocks noChangeAspect="1"/>
          </p:cNvPicPr>
          <p:nvPr/>
        </p:nvPicPr>
        <p:blipFill>
          <a:blip r:embed="rId3"/>
          <a:srcRect l="0" r="0" t="0" b="0"/>
          <a:stretch/>
        </p:blipFill>
        <p:spPr>
          <a:xfrm>
            <a:off x="8210550" y="2195711"/>
            <a:ext cx="254000" cy="254000"/>
          </a:xfrm>
          <a:prstGeom prst="rect">
            <a:avLst/>
          </a:prstGeom>
        </p:spPr>
      </p:pic>
      <p:sp>
        <p:nvSpPr>
          <p:cNvPr id="14" name="Text 9"/>
          <p:cNvSpPr/>
          <p:nvPr/>
        </p:nvSpPr>
        <p:spPr>
          <a:xfrm>
            <a:off x="8566150" y="2200771"/>
            <a:ext cx="212752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Policies and limits</a:t>
            </a:r>
            <a:endParaRPr lang="en-US" sz="1600" dirty="0"/>
          </a:p>
        </p:txBody>
      </p:sp>
      <p:sp>
        <p:nvSpPr>
          <p:cNvPr id="15" name="Text 10"/>
          <p:cNvSpPr/>
          <p:nvPr/>
        </p:nvSpPr>
        <p:spPr>
          <a:xfrm>
            <a:off x="8210550" y="2538611"/>
            <a:ext cx="302171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What each agent may do, daily money caps, allowed hours, call caps and loop limits.</a:t>
            </a:r>
            <a:endParaRPr lang="en-US" sz="1200" dirty="0"/>
          </a:p>
        </p:txBody>
      </p:sp>
      <p:sp>
        <p:nvSpPr>
          <p:cNvPr id="16" name="Shape 11"/>
          <p:cNvSpPr/>
          <p:nvPr/>
        </p:nvSpPr>
        <p:spPr>
          <a:xfrm>
            <a:off x="815975" y="4095055"/>
            <a:ext cx="3397250" cy="1946970"/>
          </a:xfrm>
          <a:prstGeom prst="roundRect">
            <a:avLst>
              <a:gd name="adj" fmla="val 6360"/>
            </a:avLst>
          </a:prstGeom>
          <a:solidFill>
            <a:srgbClr val="F7F6F2"/>
          </a:solidFill>
          <a:ln w="6350">
            <a:solidFill>
              <a:srgbClr val="E4E2DC"/>
            </a:solidFill>
            <a:prstDash val="solid"/>
          </a:ln>
        </p:spPr>
      </p:sp>
      <p:pic>
        <p:nvPicPr>
          <p:cNvPr id="17" name="Image 3" descr="Lightning">    </p:cNvPr>
          <p:cNvPicPr>
            <a:picLocks noChangeAspect="1"/>
          </p:cNvPicPr>
          <p:nvPr/>
        </p:nvPicPr>
        <p:blipFill>
          <a:blip r:embed="rId4"/>
          <a:srcRect l="0" r="0" t="0" b="0"/>
          <a:stretch/>
        </p:blipFill>
        <p:spPr>
          <a:xfrm>
            <a:off x="1047750" y="4326830"/>
            <a:ext cx="254000" cy="254000"/>
          </a:xfrm>
          <a:prstGeom prst="rect">
            <a:avLst/>
          </a:prstGeom>
        </p:spPr>
      </p:pic>
      <p:sp>
        <p:nvSpPr>
          <p:cNvPr id="18" name="Text 12"/>
          <p:cNvSpPr/>
          <p:nvPr/>
        </p:nvSpPr>
        <p:spPr>
          <a:xfrm>
            <a:off x="1403350" y="4331891"/>
            <a:ext cx="120634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Resilience</a:t>
            </a:r>
            <a:endParaRPr lang="en-US" sz="1600" dirty="0"/>
          </a:p>
        </p:txBody>
      </p:sp>
      <p:sp>
        <p:nvSpPr>
          <p:cNvPr id="19" name="Text 13"/>
          <p:cNvSpPr/>
          <p:nvPr/>
        </p:nvSpPr>
        <p:spPr>
          <a:xfrm>
            <a:off x="1047750" y="4669730"/>
            <a:ext cx="302171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Circuit breaking, safe retries, a replayable dead-letter queue, and one-click undo of a charge or message.</a:t>
            </a:r>
            <a:endParaRPr lang="en-US" sz="1200" dirty="0"/>
          </a:p>
        </p:txBody>
      </p:sp>
      <p:sp>
        <p:nvSpPr>
          <p:cNvPr id="20" name="Shape 14"/>
          <p:cNvSpPr/>
          <p:nvPr/>
        </p:nvSpPr>
        <p:spPr>
          <a:xfrm>
            <a:off x="4397375" y="4095055"/>
            <a:ext cx="3397250" cy="1946970"/>
          </a:xfrm>
          <a:prstGeom prst="roundRect">
            <a:avLst>
              <a:gd name="adj" fmla="val 6360"/>
            </a:avLst>
          </a:prstGeom>
          <a:solidFill>
            <a:srgbClr val="F7F6F2"/>
          </a:solidFill>
          <a:ln w="6350">
            <a:solidFill>
              <a:srgbClr val="E4E2DC"/>
            </a:solidFill>
            <a:prstDash val="solid"/>
          </a:ln>
        </p:spPr>
      </p:sp>
      <p:pic>
        <p:nvPicPr>
          <p:cNvPr id="21" name="Image 4" descr="Book">    </p:cNvPr>
          <p:cNvPicPr>
            <a:picLocks noChangeAspect="1"/>
          </p:cNvPicPr>
          <p:nvPr/>
        </p:nvPicPr>
        <p:blipFill>
          <a:blip r:embed="rId5"/>
          <a:srcRect l="0" r="0" t="0" b="0"/>
          <a:stretch/>
        </p:blipFill>
        <p:spPr>
          <a:xfrm>
            <a:off x="4629150" y="4326830"/>
            <a:ext cx="254000" cy="254000"/>
          </a:xfrm>
          <a:prstGeom prst="rect">
            <a:avLst/>
          </a:prstGeom>
        </p:spPr>
      </p:pic>
      <p:sp>
        <p:nvSpPr>
          <p:cNvPr id="22" name="Text 15"/>
          <p:cNvSpPr/>
          <p:nvPr/>
        </p:nvSpPr>
        <p:spPr>
          <a:xfrm>
            <a:off x="4984750" y="4331891"/>
            <a:ext cx="205894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Audit and identity</a:t>
            </a:r>
            <a:endParaRPr lang="en-US" sz="1600" dirty="0"/>
          </a:p>
        </p:txBody>
      </p:sp>
      <p:sp>
        <p:nvSpPr>
          <p:cNvPr id="23" name="Text 16"/>
          <p:cNvSpPr/>
          <p:nvPr/>
        </p:nvSpPr>
        <p:spPr>
          <a:xfrm>
            <a:off x="4629150" y="4669730"/>
            <a:ext cx="302171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Tamper-evident logs, OpenTelemetry export, scoped agent identities, and record and replay for testing.</a:t>
            </a:r>
            <a:endParaRPr lang="en-US" sz="1200" dirty="0"/>
          </a:p>
        </p:txBody>
      </p:sp>
      <p:sp>
        <p:nvSpPr>
          <p:cNvPr id="24" name="Shape 17"/>
          <p:cNvSpPr/>
          <p:nvPr/>
        </p:nvSpPr>
        <p:spPr>
          <a:xfrm>
            <a:off x="7975600" y="4091880"/>
            <a:ext cx="3403600" cy="1953320"/>
          </a:xfrm>
          <a:prstGeom prst="roundRect">
            <a:avLst>
              <a:gd name="adj" fmla="val 6502"/>
            </a:avLst>
          </a:prstGeom>
          <a:solidFill>
            <a:srgbClr val="16191E"/>
          </a:solidFill>
          <a:ln/>
        </p:spPr>
      </p:sp>
      <p:pic>
        <p:nvPicPr>
          <p:cNvPr id="25" name="Image 5" descr="Lock">    </p:cNvPr>
          <p:cNvPicPr>
            <a:picLocks noChangeAspect="1"/>
          </p:cNvPicPr>
          <p:nvPr/>
        </p:nvPicPr>
        <p:blipFill>
          <a:blip r:embed="rId6"/>
          <a:srcRect l="0" r="0" t="0" b="0"/>
          <a:stretch/>
        </p:blipFill>
        <p:spPr>
          <a:xfrm>
            <a:off x="8204200" y="4320480"/>
            <a:ext cx="254000" cy="254000"/>
          </a:xfrm>
          <a:prstGeom prst="rect">
            <a:avLst/>
          </a:prstGeom>
        </p:spPr>
      </p:pic>
      <p:sp>
        <p:nvSpPr>
          <p:cNvPr id="26" name="Text 18"/>
          <p:cNvSpPr/>
          <p:nvPr/>
        </p:nvSpPr>
        <p:spPr>
          <a:xfrm>
            <a:off x="8559800" y="4325541"/>
            <a:ext cx="130111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CEFF3"/>
                </a:solidFill>
                <a:latin typeface="Arial" pitchFamily="34" charset="0"/>
                <a:ea typeface="Arial" pitchFamily="34" charset="-122"/>
                <a:cs typeface="Arial" pitchFamily="34" charset="-120"/>
              </a:rPr>
              <a:t>Data safety</a:t>
            </a:r>
            <a:endParaRPr lang="en-US" sz="1600" dirty="0"/>
          </a:p>
        </p:txBody>
      </p:sp>
      <p:sp>
        <p:nvSpPr>
          <p:cNvPr id="27" name="Text 19"/>
          <p:cNvSpPr/>
          <p:nvPr/>
        </p:nvSpPr>
        <p:spPr>
          <a:xfrm>
            <a:off x="8204200" y="4663380"/>
            <a:ext cx="303479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C0CB"/>
                </a:solidFill>
                <a:latin typeface="Arial" pitchFamily="34" charset="0"/>
                <a:ea typeface="Arial" pitchFamily="34" charset="-122"/>
                <a:cs typeface="Arial" pitchFamily="34" charset="-120"/>
              </a:rPr>
              <a:t>PII redaction, prompt-injection filtering on tool output, and schema drift alerts.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6A08"/>
                </a:solidFill>
                <a:latin typeface="Arial" pitchFamily="34" charset="0"/>
                <a:ea typeface="Arial" pitchFamily="34" charset="-122"/>
                <a:cs typeface="Arial" pitchFamily="34" charset="-120"/>
              </a:rPr>
              <a:t>HOW IT WORKS</a:t>
            </a:r>
            <a:endParaRPr lang="en-US" sz="1200" dirty="0"/>
          </a:p>
        </p:txBody>
      </p:sp>
      <p:sp>
        <p:nvSpPr>
          <p:cNvPr id="3" name="Text 1"/>
          <p:cNvSpPr/>
          <p:nvPr>
            <p:ph type="title"/>
          </p:nvPr>
        </p:nvSpPr>
        <p:spPr>
          <a:xfrm>
            <a:off x="812800" y="1153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E"/>
                </a:solidFill>
                <a:latin typeface="Arial" pitchFamily="34" charset="0"/>
                <a:ea typeface="Arial" pitchFamily="34" charset="-122"/>
                <a:cs typeface="Arial" pitchFamily="34" charset="-120"/>
              </a:rPr>
              <a:t>The life of one agent call</a:t>
            </a:r>
            <a:endParaRPr lang="en-US" sz="3600" dirty="0"/>
          </a:p>
        </p:txBody>
      </p:sp>
      <p:sp>
        <p:nvSpPr>
          <p:cNvPr id="4" name="Shape 2"/>
          <p:cNvSpPr/>
          <p:nvPr/>
        </p:nvSpPr>
        <p:spPr>
          <a:xfrm>
            <a:off x="812800" y="1960761"/>
            <a:ext cx="3403600" cy="1953320"/>
          </a:xfrm>
          <a:prstGeom prst="roundRect">
            <a:avLst>
              <a:gd name="adj" fmla="val 3901"/>
            </a:avLst>
          </a:prstGeom>
          <a:solidFill>
            <a:srgbClr val="F7F6F2"/>
          </a:solidFill>
          <a:ln/>
        </p:spPr>
      </p:sp>
      <p:sp>
        <p:nvSpPr>
          <p:cNvPr id="5" name="Shape 3"/>
          <p:cNvSpPr/>
          <p:nvPr/>
        </p:nvSpPr>
        <p:spPr>
          <a:xfrm>
            <a:off x="812800" y="1960761"/>
            <a:ext cx="3403600" cy="1953320"/>
          </a:xfrm>
          <a:custGeom>
            <a:avLst/>
            <a:gdLst/>
            <a:ahLst/>
            <a:cxnLst/>
            <a:rect l="l" t="t" r="r" b="b"/>
            <a:pathLst>
              <a:path w="3403600" h="1953320">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F2B544"/>
          </a:solidFill>
          <a:ln/>
        </p:spPr>
      </p:sp>
      <p:sp>
        <p:nvSpPr>
          <p:cNvPr id="6" name="Text 4"/>
          <p:cNvSpPr/>
          <p:nvPr/>
        </p:nvSpPr>
        <p:spPr>
          <a:xfrm>
            <a:off x="1041400" y="2227461"/>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1041400" y="2529681"/>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Identify</a:t>
            </a:r>
            <a:endParaRPr lang="en-US" sz="1600" dirty="0"/>
          </a:p>
        </p:txBody>
      </p:sp>
      <p:sp>
        <p:nvSpPr>
          <p:cNvPr id="8" name="Text 6"/>
          <p:cNvSpPr/>
          <p:nvPr/>
        </p:nvSpPr>
        <p:spPr>
          <a:xfrm>
            <a:off x="1041400" y="2862362"/>
            <a:ext cx="303479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An API key or a scoped agent token says which agent is acting, for which customer.</a:t>
            </a:r>
            <a:endParaRPr lang="en-US" sz="1200" dirty="0"/>
          </a:p>
        </p:txBody>
      </p:sp>
      <p:sp>
        <p:nvSpPr>
          <p:cNvPr id="9" name="Shape 7"/>
          <p:cNvSpPr/>
          <p:nvPr/>
        </p:nvSpPr>
        <p:spPr>
          <a:xfrm>
            <a:off x="4394200" y="1960761"/>
            <a:ext cx="3403600" cy="1953320"/>
          </a:xfrm>
          <a:prstGeom prst="roundRect">
            <a:avLst>
              <a:gd name="adj" fmla="val 3901"/>
            </a:avLst>
          </a:prstGeom>
          <a:solidFill>
            <a:srgbClr val="F7F6F2"/>
          </a:solidFill>
          <a:ln/>
        </p:spPr>
      </p:sp>
      <p:sp>
        <p:nvSpPr>
          <p:cNvPr id="10" name="Shape 8"/>
          <p:cNvSpPr/>
          <p:nvPr/>
        </p:nvSpPr>
        <p:spPr>
          <a:xfrm>
            <a:off x="4394200" y="1960761"/>
            <a:ext cx="3403600" cy="1953320"/>
          </a:xfrm>
          <a:custGeom>
            <a:avLst/>
            <a:gdLst/>
            <a:ahLst/>
            <a:cxnLst/>
            <a:rect l="l" t="t" r="r" b="b"/>
            <a:pathLst>
              <a:path w="3403600" h="1953320">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F2B544"/>
          </a:solidFill>
          <a:ln/>
        </p:spPr>
      </p:sp>
      <p:sp>
        <p:nvSpPr>
          <p:cNvPr id="11" name="Text 9"/>
          <p:cNvSpPr/>
          <p:nvPr/>
        </p:nvSpPr>
        <p:spPr>
          <a:xfrm>
            <a:off x="4622800" y="2227461"/>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02</a:t>
            </a:r>
            <a:endParaRPr lang="en-US" sz="1200" dirty="0"/>
          </a:p>
        </p:txBody>
      </p:sp>
      <p:sp>
        <p:nvSpPr>
          <p:cNvPr id="12" name="Text 10"/>
          <p:cNvSpPr/>
          <p:nvPr/>
        </p:nvSpPr>
        <p:spPr>
          <a:xfrm>
            <a:off x="4622800" y="2529681"/>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Validate</a:t>
            </a:r>
            <a:endParaRPr lang="en-US" sz="1600" dirty="0"/>
          </a:p>
        </p:txBody>
      </p:sp>
      <p:sp>
        <p:nvSpPr>
          <p:cNvPr id="13" name="Text 11"/>
          <p:cNvSpPr/>
          <p:nvPr/>
        </p:nvSpPr>
        <p:spPr>
          <a:xfrm>
            <a:off x="4622800" y="2862362"/>
            <a:ext cx="303479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Per-customer rules check the payload, such as amount limits or a refund above the balance.</a:t>
            </a:r>
            <a:endParaRPr lang="en-US" sz="1200" dirty="0"/>
          </a:p>
        </p:txBody>
      </p:sp>
      <p:sp>
        <p:nvSpPr>
          <p:cNvPr id="14" name="Shape 12"/>
          <p:cNvSpPr/>
          <p:nvPr/>
        </p:nvSpPr>
        <p:spPr>
          <a:xfrm>
            <a:off x="7975600" y="1960761"/>
            <a:ext cx="3403600" cy="1953320"/>
          </a:xfrm>
          <a:prstGeom prst="roundRect">
            <a:avLst>
              <a:gd name="adj" fmla="val 3901"/>
            </a:avLst>
          </a:prstGeom>
          <a:solidFill>
            <a:srgbClr val="F7F6F2"/>
          </a:solidFill>
          <a:ln/>
        </p:spPr>
      </p:sp>
      <p:sp>
        <p:nvSpPr>
          <p:cNvPr id="15" name="Shape 13"/>
          <p:cNvSpPr/>
          <p:nvPr/>
        </p:nvSpPr>
        <p:spPr>
          <a:xfrm>
            <a:off x="7975600" y="1960761"/>
            <a:ext cx="3403600" cy="1953320"/>
          </a:xfrm>
          <a:custGeom>
            <a:avLst/>
            <a:gdLst/>
            <a:ahLst/>
            <a:cxnLst/>
            <a:rect l="l" t="t" r="r" b="b"/>
            <a:pathLst>
              <a:path w="3403600" h="1953320">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F2B544"/>
          </a:solidFill>
          <a:ln/>
        </p:spPr>
      </p:sp>
      <p:sp>
        <p:nvSpPr>
          <p:cNvPr id="16" name="Text 14"/>
          <p:cNvSpPr/>
          <p:nvPr/>
        </p:nvSpPr>
        <p:spPr>
          <a:xfrm>
            <a:off x="8204200" y="2227461"/>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03</a:t>
            </a:r>
            <a:endParaRPr lang="en-US" sz="1200" dirty="0"/>
          </a:p>
        </p:txBody>
      </p:sp>
      <p:sp>
        <p:nvSpPr>
          <p:cNvPr id="17" name="Text 15"/>
          <p:cNvSpPr/>
          <p:nvPr/>
        </p:nvSpPr>
        <p:spPr>
          <a:xfrm>
            <a:off x="8204200" y="2529681"/>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Claim</a:t>
            </a:r>
            <a:endParaRPr lang="en-US" sz="1600" dirty="0"/>
          </a:p>
        </p:txBody>
      </p:sp>
      <p:sp>
        <p:nvSpPr>
          <p:cNvPr id="18" name="Text 16"/>
          <p:cNvSpPr/>
          <p:nvPr/>
        </p:nvSpPr>
        <p:spPr>
          <a:xfrm>
            <a:off x="8204200" y="2862362"/>
            <a:ext cx="303479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An atomic dedup slot is taken. If it already exists, the stored result goes back instead.</a:t>
            </a:r>
            <a:endParaRPr lang="en-US" sz="1200" dirty="0"/>
          </a:p>
        </p:txBody>
      </p:sp>
      <p:sp>
        <p:nvSpPr>
          <p:cNvPr id="19" name="Shape 17"/>
          <p:cNvSpPr/>
          <p:nvPr/>
        </p:nvSpPr>
        <p:spPr>
          <a:xfrm>
            <a:off x="812800" y="4091880"/>
            <a:ext cx="3403600" cy="1953320"/>
          </a:xfrm>
          <a:prstGeom prst="roundRect">
            <a:avLst>
              <a:gd name="adj" fmla="val 3901"/>
            </a:avLst>
          </a:prstGeom>
          <a:solidFill>
            <a:srgbClr val="F7F6F2"/>
          </a:solidFill>
          <a:ln/>
        </p:spPr>
      </p:sp>
      <p:sp>
        <p:nvSpPr>
          <p:cNvPr id="20" name="Shape 18"/>
          <p:cNvSpPr/>
          <p:nvPr/>
        </p:nvSpPr>
        <p:spPr>
          <a:xfrm>
            <a:off x="812800" y="4091880"/>
            <a:ext cx="3403600" cy="1953320"/>
          </a:xfrm>
          <a:custGeom>
            <a:avLst/>
            <a:gdLst/>
            <a:ahLst/>
            <a:cxnLst/>
            <a:rect l="l" t="t" r="r" b="b"/>
            <a:pathLst>
              <a:path w="3403600" h="1953320">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F2B544"/>
          </a:solidFill>
          <a:ln/>
        </p:spPr>
      </p:sp>
      <p:sp>
        <p:nvSpPr>
          <p:cNvPr id="21" name="Text 19"/>
          <p:cNvSpPr/>
          <p:nvPr/>
        </p:nvSpPr>
        <p:spPr>
          <a:xfrm>
            <a:off x="1041400" y="435858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04</a:t>
            </a:r>
            <a:endParaRPr lang="en-US" sz="1200" dirty="0"/>
          </a:p>
        </p:txBody>
      </p:sp>
      <p:sp>
        <p:nvSpPr>
          <p:cNvPr id="22" name="Text 20"/>
          <p:cNvSpPr/>
          <p:nvPr/>
        </p:nvSpPr>
        <p:spPr>
          <a:xfrm>
            <a:off x="1041400" y="4660801"/>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Govern</a:t>
            </a:r>
            <a:endParaRPr lang="en-US" sz="1600" dirty="0"/>
          </a:p>
        </p:txBody>
      </p:sp>
      <p:sp>
        <p:nvSpPr>
          <p:cNvPr id="23" name="Text 21"/>
          <p:cNvSpPr/>
          <p:nvPr/>
        </p:nvSpPr>
        <p:spPr>
          <a:xfrm>
            <a:off x="1041400" y="4993481"/>
            <a:ext cx="303479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Spend caps and loop checks run; a call that needs approval waits for a human.</a:t>
            </a:r>
            <a:endParaRPr lang="en-US" sz="1200" dirty="0"/>
          </a:p>
        </p:txBody>
      </p:sp>
      <p:sp>
        <p:nvSpPr>
          <p:cNvPr id="24" name="Shape 22"/>
          <p:cNvSpPr/>
          <p:nvPr/>
        </p:nvSpPr>
        <p:spPr>
          <a:xfrm>
            <a:off x="4394200" y="4091880"/>
            <a:ext cx="3403600" cy="1953320"/>
          </a:xfrm>
          <a:prstGeom prst="roundRect">
            <a:avLst>
              <a:gd name="adj" fmla="val 3901"/>
            </a:avLst>
          </a:prstGeom>
          <a:solidFill>
            <a:srgbClr val="F7F6F2"/>
          </a:solidFill>
          <a:ln/>
        </p:spPr>
      </p:sp>
      <p:sp>
        <p:nvSpPr>
          <p:cNvPr id="25" name="Shape 23"/>
          <p:cNvSpPr/>
          <p:nvPr/>
        </p:nvSpPr>
        <p:spPr>
          <a:xfrm>
            <a:off x="4394200" y="4091880"/>
            <a:ext cx="3403600" cy="1953320"/>
          </a:xfrm>
          <a:custGeom>
            <a:avLst/>
            <a:gdLst/>
            <a:ahLst/>
            <a:cxnLst/>
            <a:rect l="l" t="t" r="r" b="b"/>
            <a:pathLst>
              <a:path w="3403600" h="1953320">
                <a:moveTo>
                  <a:pt x="0" y="76200"/>
                </a:moveTo>
                <a:lnTo>
                  <a:pt x="0" y="76200"/>
                </a:lnTo>
                <a:arcTo hR="76200" wR="76200" stAng="10800000" swAng="5400000"/>
                <a:lnTo>
                  <a:pt x="3327400" y="0"/>
                </a:lnTo>
                <a:arcTo hR="76200" wR="76200" stAng="16200000" swAng="5400000"/>
                <a:lnTo>
                  <a:pt x="3403600" y="76200"/>
                </a:lnTo>
                <a:arcTo hR="38100" wR="76200" stAng="0" swAng="-5400000"/>
                <a:lnTo>
                  <a:pt x="76200" y="38100"/>
                </a:lnTo>
                <a:arcTo hR="38100" wR="76200" stAng="16200000" swAng="-5400000"/>
                <a:close/>
              </a:path>
            </a:pathLst>
          </a:custGeom>
          <a:solidFill>
            <a:srgbClr val="F2B544"/>
          </a:solidFill>
          <a:ln/>
        </p:spPr>
      </p:sp>
      <p:sp>
        <p:nvSpPr>
          <p:cNvPr id="26" name="Text 24"/>
          <p:cNvSpPr/>
          <p:nvPr/>
        </p:nvSpPr>
        <p:spPr>
          <a:xfrm>
            <a:off x="4622800" y="435858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05</a:t>
            </a:r>
            <a:endParaRPr lang="en-US" sz="1200" dirty="0"/>
          </a:p>
        </p:txBody>
      </p:sp>
      <p:sp>
        <p:nvSpPr>
          <p:cNvPr id="27" name="Text 25"/>
          <p:cNvSpPr/>
          <p:nvPr/>
        </p:nvSpPr>
        <p:spPr>
          <a:xfrm>
            <a:off x="4622800" y="4660801"/>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Execute</a:t>
            </a:r>
            <a:endParaRPr lang="en-US" sz="1600" dirty="0"/>
          </a:p>
        </p:txBody>
      </p:sp>
      <p:sp>
        <p:nvSpPr>
          <p:cNvPr id="28" name="Text 26"/>
          <p:cNvSpPr/>
          <p:nvPr/>
        </p:nvSpPr>
        <p:spPr>
          <a:xfrm>
            <a:off x="4622800" y="4993481"/>
            <a:ext cx="303479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Forwarded once with the customer's encrypted credentials, with retries and a circuit breaker.</a:t>
            </a:r>
            <a:endParaRPr lang="en-US" sz="1200" dirty="0"/>
          </a:p>
        </p:txBody>
      </p:sp>
      <p:sp>
        <p:nvSpPr>
          <p:cNvPr id="29" name="Shape 27"/>
          <p:cNvSpPr/>
          <p:nvPr/>
        </p:nvSpPr>
        <p:spPr>
          <a:xfrm>
            <a:off x="7975600" y="4091880"/>
            <a:ext cx="3403600" cy="1953320"/>
          </a:xfrm>
          <a:prstGeom prst="roundRect">
            <a:avLst>
              <a:gd name="adj" fmla="val 3901"/>
            </a:avLst>
          </a:prstGeom>
          <a:solidFill>
            <a:srgbClr val="16191E"/>
          </a:solidFill>
          <a:ln/>
        </p:spPr>
      </p:sp>
      <p:sp>
        <p:nvSpPr>
          <p:cNvPr id="30" name="Text 28"/>
          <p:cNvSpPr/>
          <p:nvPr/>
        </p:nvSpPr>
        <p:spPr>
          <a:xfrm>
            <a:off x="8204200" y="4320480"/>
            <a:ext cx="30347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544"/>
                </a:solidFill>
                <a:latin typeface="Arial" pitchFamily="34" charset="0"/>
                <a:ea typeface="Arial" pitchFamily="34" charset="-122"/>
                <a:cs typeface="Arial" pitchFamily="34" charset="-120"/>
              </a:rPr>
              <a:t>06</a:t>
            </a:r>
            <a:endParaRPr lang="en-US" sz="1200" dirty="0"/>
          </a:p>
        </p:txBody>
      </p:sp>
      <p:sp>
        <p:nvSpPr>
          <p:cNvPr id="31" name="Text 29"/>
          <p:cNvSpPr/>
          <p:nvPr/>
        </p:nvSpPr>
        <p:spPr>
          <a:xfrm>
            <a:off x="8204200" y="4622701"/>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CEFF3"/>
                </a:solidFill>
                <a:latin typeface="Arial" pitchFamily="34" charset="0"/>
                <a:ea typeface="Arial" pitchFamily="34" charset="-122"/>
                <a:cs typeface="Arial" pitchFamily="34" charset="-120"/>
              </a:rPr>
              <a:t>Record</a:t>
            </a:r>
            <a:endParaRPr lang="en-US" sz="1600" dirty="0"/>
          </a:p>
        </p:txBody>
      </p:sp>
      <p:sp>
        <p:nvSpPr>
          <p:cNvPr id="32" name="Text 30"/>
          <p:cNvSpPr/>
          <p:nvPr/>
        </p:nvSpPr>
        <p:spPr>
          <a:xfrm>
            <a:off x="8204200" y="4955381"/>
            <a:ext cx="303479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C0CB"/>
                </a:solidFill>
                <a:latin typeface="Arial" pitchFamily="34" charset="0"/>
                <a:ea typeface="Arial" pitchFamily="34" charset="-122"/>
                <a:cs typeface="Arial" pitchFamily="34" charset="-120"/>
              </a:rPr>
              <a:t>Logged with the agent's identity. A failure lands in a queue for replay, never silently lost.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6A08"/>
                </a:solidFill>
                <a:latin typeface="Arial" pitchFamily="34" charset="0"/>
                <a:ea typeface="Arial" pitchFamily="34" charset="-122"/>
                <a:cs typeface="Arial" pitchFamily="34" charset="-120"/>
              </a:rPr>
              <a:t>THE CORE MECHANISM</a:t>
            </a:r>
            <a:endParaRPr lang="en-US" sz="1200" dirty="0"/>
          </a:p>
        </p:txBody>
      </p:sp>
      <p:sp>
        <p:nvSpPr>
          <p:cNvPr id="3" name="Text 1"/>
          <p:cNvSpPr/>
          <p:nvPr>
            <p:ph type="title"/>
          </p:nvPr>
        </p:nvSpPr>
        <p:spPr>
          <a:xfrm>
            <a:off x="812800" y="1153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E"/>
                </a:solidFill>
                <a:latin typeface="Arial" pitchFamily="34" charset="0"/>
                <a:ea typeface="Arial" pitchFamily="34" charset="-122"/>
                <a:cs typeface="Arial" pitchFamily="34" charset="-120"/>
              </a:rPr>
              <a:t>How exactly-once works</a:t>
            </a:r>
            <a:endParaRPr lang="en-US" sz="3600" dirty="0"/>
          </a:p>
        </p:txBody>
      </p:sp>
      <p:sp>
        <p:nvSpPr>
          <p:cNvPr id="4" name="Text 2"/>
          <p:cNvSpPr/>
          <p:nvPr/>
        </p:nvSpPr>
        <p:spPr>
          <a:xfrm>
            <a:off x="812800" y="2966740"/>
            <a:ext cx="1574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First call</a:t>
            </a:r>
            <a:endParaRPr lang="en-US" sz="1200" dirty="0"/>
          </a:p>
        </p:txBody>
      </p:sp>
      <p:sp>
        <p:nvSpPr>
          <p:cNvPr id="5" name="Text 3"/>
          <p:cNvSpPr/>
          <p:nvPr/>
        </p:nvSpPr>
        <p:spPr>
          <a:xfrm>
            <a:off x="2466975" y="2785765"/>
            <a:ext cx="1765300" cy="575270"/>
          </a:xfrm>
          <a:prstGeom prst="roundRect">
            <a:avLst>
              <a:gd name="adj" fmla="val 17109"/>
            </a:avLst>
          </a:prstGeom>
          <a:solidFill>
            <a:srgbClr val="F7F6F2"/>
          </a:solidFill>
          <a:ln w="6350">
            <a:solidFill>
              <a:srgbClr val="E4E2DC"/>
            </a:solidFill>
            <a:prstDash val="solid"/>
          </a:ln>
        </p:spPr>
        <p:txBody>
          <a:bodyPr wrap="square" lIns="152147" tIns="152147" rIns="101347" bIns="126747" rtlCol="0" anchor="t">
            <a:normAutofit/>
          </a:bodyPr>
          <a:lstStyle/>
          <a:p>
            <a:pPr algn="l" indent="0" marL="0">
              <a:lnSpc>
                <a:spcPts val="1680"/>
              </a:lnSpc>
              <a:buNone/>
            </a:pPr>
            <a:r>
              <a:rPr lang="en-US" sz="1200" dirty="0">
                <a:solidFill>
                  <a:srgbClr val="16191E"/>
                </a:solidFill>
                <a:latin typeface="Arial" pitchFamily="34" charset="0"/>
                <a:ea typeface="Arial" pitchFamily="34" charset="-122"/>
                <a:cs typeface="Arial" pitchFamily="34" charset="-120"/>
              </a:rPr>
              <a:t>Agent sends the call</a:t>
            </a:r>
            <a:endParaRPr lang="en-US" sz="1200" dirty="0"/>
          </a:p>
        </p:txBody>
      </p:sp>
      <p:pic>
        <p:nvPicPr>
          <p:cNvPr id="6" name="Image 0" descr="arrow-right">    </p:cNvPr>
          <p:cNvPicPr>
            <a:picLocks noChangeAspect="1"/>
          </p:cNvPicPr>
          <p:nvPr/>
        </p:nvPicPr>
        <p:blipFill>
          <a:blip r:embed="rId1"/>
          <a:srcRect l="0" r="0" t="0" b="0"/>
          <a:stretch/>
        </p:blipFill>
        <p:spPr>
          <a:xfrm>
            <a:off x="4362450" y="2984500"/>
            <a:ext cx="355600" cy="177800"/>
          </a:xfrm>
          <a:prstGeom prst="rect">
            <a:avLst/>
          </a:prstGeom>
        </p:spPr>
      </p:pic>
      <p:sp>
        <p:nvSpPr>
          <p:cNvPr id="7" name="Text 4"/>
          <p:cNvSpPr/>
          <p:nvPr/>
        </p:nvSpPr>
        <p:spPr>
          <a:xfrm>
            <a:off x="4848225" y="2785765"/>
            <a:ext cx="1765300" cy="575270"/>
          </a:xfrm>
          <a:prstGeom prst="roundRect">
            <a:avLst>
              <a:gd name="adj" fmla="val 17109"/>
            </a:avLst>
          </a:prstGeom>
          <a:solidFill>
            <a:srgbClr val="F7F6F2"/>
          </a:solidFill>
          <a:ln w="6350">
            <a:solidFill>
              <a:srgbClr val="E4E2DC"/>
            </a:solidFill>
            <a:prstDash val="solid"/>
          </a:ln>
        </p:spPr>
        <p:txBody>
          <a:bodyPr wrap="square" lIns="152147" tIns="152147" rIns="101347" bIns="126747" rtlCol="0" anchor="t">
            <a:normAutofit/>
          </a:bodyPr>
          <a:lstStyle/>
          <a:p>
            <a:pPr algn="l" indent="0" marL="0">
              <a:lnSpc>
                <a:spcPts val="1680"/>
              </a:lnSpc>
              <a:buNone/>
            </a:pPr>
            <a:r>
              <a:rPr lang="en-US" sz="1200" dirty="0">
                <a:solidFill>
                  <a:srgbClr val="16191E"/>
                </a:solidFill>
                <a:latin typeface="Arial" pitchFamily="34" charset="0"/>
                <a:ea typeface="Arial" pitchFamily="34" charset="-122"/>
                <a:cs typeface="Arial" pitchFamily="34" charset="-120"/>
              </a:rPr>
              <a:t>Slot is free: claim it</a:t>
            </a:r>
            <a:endParaRPr lang="en-US" sz="1200" dirty="0"/>
          </a:p>
        </p:txBody>
      </p:sp>
      <p:pic>
        <p:nvPicPr>
          <p:cNvPr id="8" name="Image 1" descr="arrow-right">    </p:cNvPr>
          <p:cNvPicPr>
            <a:picLocks noChangeAspect="1"/>
          </p:cNvPicPr>
          <p:nvPr/>
        </p:nvPicPr>
        <p:blipFill>
          <a:blip r:embed="rId2"/>
          <a:srcRect l="0" r="0" t="0" b="0"/>
          <a:stretch/>
        </p:blipFill>
        <p:spPr>
          <a:xfrm>
            <a:off x="6743700" y="2984500"/>
            <a:ext cx="355600" cy="177800"/>
          </a:xfrm>
          <a:prstGeom prst="rect">
            <a:avLst/>
          </a:prstGeom>
        </p:spPr>
      </p:pic>
      <p:sp>
        <p:nvSpPr>
          <p:cNvPr id="9" name="Text 5"/>
          <p:cNvSpPr/>
          <p:nvPr/>
        </p:nvSpPr>
        <p:spPr>
          <a:xfrm>
            <a:off x="7229475" y="2785765"/>
            <a:ext cx="1765300" cy="575270"/>
          </a:xfrm>
          <a:prstGeom prst="roundRect">
            <a:avLst>
              <a:gd name="adj" fmla="val 17109"/>
            </a:avLst>
          </a:prstGeom>
          <a:solidFill>
            <a:srgbClr val="F7F6F2"/>
          </a:solidFill>
          <a:ln w="6350">
            <a:solidFill>
              <a:srgbClr val="E4E2DC"/>
            </a:solidFill>
            <a:prstDash val="solid"/>
          </a:ln>
        </p:spPr>
        <p:txBody>
          <a:bodyPr wrap="square" lIns="152147" tIns="152147" rIns="101347" bIns="126747" rtlCol="0" anchor="t">
            <a:normAutofit/>
          </a:bodyPr>
          <a:lstStyle/>
          <a:p>
            <a:pPr algn="l" indent="0" marL="0">
              <a:lnSpc>
                <a:spcPts val="1680"/>
              </a:lnSpc>
              <a:buNone/>
            </a:pPr>
            <a:r>
              <a:rPr lang="en-US" sz="1200" dirty="0">
                <a:solidFill>
                  <a:srgbClr val="16191E"/>
                </a:solidFill>
                <a:latin typeface="Arial" pitchFamily="34" charset="0"/>
                <a:ea typeface="Arial" pitchFamily="34" charset="-122"/>
                <a:cs typeface="Arial" pitchFamily="34" charset="-120"/>
              </a:rPr>
              <a:t>Real API runs once</a:t>
            </a:r>
            <a:endParaRPr lang="en-US" sz="1200" dirty="0"/>
          </a:p>
        </p:txBody>
      </p:sp>
      <p:pic>
        <p:nvPicPr>
          <p:cNvPr id="10" name="Image 2" descr="arrow-right">    </p:cNvPr>
          <p:cNvPicPr>
            <a:picLocks noChangeAspect="1"/>
          </p:cNvPicPr>
          <p:nvPr/>
        </p:nvPicPr>
        <p:blipFill>
          <a:blip r:embed="rId3"/>
          <a:srcRect l="0" r="0" t="0" b="0"/>
          <a:stretch/>
        </p:blipFill>
        <p:spPr>
          <a:xfrm>
            <a:off x="9124950" y="2984500"/>
            <a:ext cx="355600" cy="177800"/>
          </a:xfrm>
          <a:prstGeom prst="rect">
            <a:avLst/>
          </a:prstGeom>
        </p:spPr>
      </p:pic>
      <p:sp>
        <p:nvSpPr>
          <p:cNvPr id="11" name="Text 6"/>
          <p:cNvSpPr/>
          <p:nvPr/>
        </p:nvSpPr>
        <p:spPr>
          <a:xfrm>
            <a:off x="9610725" y="2785765"/>
            <a:ext cx="1765300" cy="575270"/>
          </a:xfrm>
          <a:prstGeom prst="roundRect">
            <a:avLst>
              <a:gd name="adj" fmla="val 17109"/>
            </a:avLst>
          </a:prstGeom>
          <a:solidFill>
            <a:srgbClr val="F7F6F2"/>
          </a:solidFill>
          <a:ln w="6350">
            <a:solidFill>
              <a:srgbClr val="E4E2DC"/>
            </a:solidFill>
            <a:prstDash val="solid"/>
          </a:ln>
        </p:spPr>
        <p:txBody>
          <a:bodyPr wrap="square" lIns="152147" tIns="152147" rIns="101347" bIns="126747" rtlCol="0" anchor="t">
            <a:normAutofit/>
          </a:bodyPr>
          <a:lstStyle/>
          <a:p>
            <a:pPr algn="l" indent="0" marL="0">
              <a:lnSpc>
                <a:spcPts val="1680"/>
              </a:lnSpc>
              <a:buNone/>
            </a:pPr>
            <a:r>
              <a:rPr lang="en-US" sz="1200" dirty="0">
                <a:solidFill>
                  <a:srgbClr val="16191E"/>
                </a:solidFill>
                <a:latin typeface="Arial" pitchFamily="34" charset="0"/>
                <a:ea typeface="Arial" pitchFamily="34" charset="-122"/>
                <a:cs typeface="Arial" pitchFamily="34" charset="-120"/>
              </a:rPr>
              <a:t>Result is stored</a:t>
            </a:r>
            <a:endParaRPr lang="en-US" sz="1200" dirty="0"/>
          </a:p>
        </p:txBody>
      </p:sp>
      <p:sp>
        <p:nvSpPr>
          <p:cNvPr id="12" name="Text 7"/>
          <p:cNvSpPr/>
          <p:nvPr/>
        </p:nvSpPr>
        <p:spPr>
          <a:xfrm>
            <a:off x="812800" y="3851870"/>
            <a:ext cx="1574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Any retry</a:t>
            </a:r>
            <a:endParaRPr lang="en-US" sz="1200" dirty="0"/>
          </a:p>
        </p:txBody>
      </p:sp>
      <p:sp>
        <p:nvSpPr>
          <p:cNvPr id="13" name="Text 8"/>
          <p:cNvSpPr/>
          <p:nvPr/>
        </p:nvSpPr>
        <p:spPr>
          <a:xfrm>
            <a:off x="2466975" y="3670895"/>
            <a:ext cx="2012950" cy="575270"/>
          </a:xfrm>
          <a:prstGeom prst="roundRect">
            <a:avLst>
              <a:gd name="adj" fmla="val 17109"/>
            </a:avLst>
          </a:prstGeom>
          <a:solidFill>
            <a:srgbClr val="F7F6F2"/>
          </a:solidFill>
          <a:ln w="6350">
            <a:solidFill>
              <a:srgbClr val="E4E2DC"/>
            </a:solidFill>
            <a:prstDash val="solid"/>
          </a:ln>
        </p:spPr>
        <p:txBody>
          <a:bodyPr wrap="square" lIns="152147" tIns="152147" rIns="101347" bIns="126747" rtlCol="0" anchor="t">
            <a:normAutofit/>
          </a:bodyPr>
          <a:lstStyle/>
          <a:p>
            <a:pPr algn="l" indent="0" marL="0">
              <a:lnSpc>
                <a:spcPts val="1680"/>
              </a:lnSpc>
              <a:buNone/>
            </a:pPr>
            <a:r>
              <a:rPr lang="en-US" sz="1200" dirty="0">
                <a:solidFill>
                  <a:srgbClr val="16191E"/>
                </a:solidFill>
                <a:latin typeface="Arial" pitchFamily="34" charset="0"/>
                <a:ea typeface="Arial" pitchFamily="34" charset="-122"/>
                <a:cs typeface="Arial" pitchFamily="34" charset="-120"/>
              </a:rPr>
              <a:t>Same call arrives again</a:t>
            </a:r>
            <a:endParaRPr lang="en-US" sz="1200" dirty="0"/>
          </a:p>
        </p:txBody>
      </p:sp>
      <p:pic>
        <p:nvPicPr>
          <p:cNvPr id="14" name="Image 3" descr="arrow-right">    </p:cNvPr>
          <p:cNvPicPr>
            <a:picLocks noChangeAspect="1"/>
          </p:cNvPicPr>
          <p:nvPr/>
        </p:nvPicPr>
        <p:blipFill>
          <a:blip r:embed="rId4"/>
          <a:srcRect l="0" r="0" t="0" b="0"/>
          <a:stretch/>
        </p:blipFill>
        <p:spPr>
          <a:xfrm>
            <a:off x="4610100" y="3869630"/>
            <a:ext cx="355600" cy="177800"/>
          </a:xfrm>
          <a:prstGeom prst="rect">
            <a:avLst/>
          </a:prstGeom>
        </p:spPr>
      </p:pic>
      <p:sp>
        <p:nvSpPr>
          <p:cNvPr id="15" name="Text 9"/>
          <p:cNvSpPr/>
          <p:nvPr/>
        </p:nvSpPr>
        <p:spPr>
          <a:xfrm>
            <a:off x="5095875" y="3670895"/>
            <a:ext cx="2012950" cy="575270"/>
          </a:xfrm>
          <a:prstGeom prst="roundRect">
            <a:avLst>
              <a:gd name="adj" fmla="val 17109"/>
            </a:avLst>
          </a:prstGeom>
          <a:solidFill>
            <a:srgbClr val="F7F6F2"/>
          </a:solidFill>
          <a:ln w="6350">
            <a:solidFill>
              <a:srgbClr val="E4E2DC"/>
            </a:solidFill>
            <a:prstDash val="solid"/>
          </a:ln>
        </p:spPr>
        <p:txBody>
          <a:bodyPr wrap="square" lIns="152147" tIns="152147" rIns="101347" bIns="126747" rtlCol="0" anchor="t">
            <a:normAutofit/>
          </a:bodyPr>
          <a:lstStyle/>
          <a:p>
            <a:pPr algn="l" indent="0" marL="0">
              <a:lnSpc>
                <a:spcPts val="1680"/>
              </a:lnSpc>
              <a:buNone/>
            </a:pPr>
            <a:r>
              <a:rPr lang="en-US" sz="1200" dirty="0">
                <a:solidFill>
                  <a:srgbClr val="16191E"/>
                </a:solidFill>
                <a:latin typeface="Arial" pitchFamily="34" charset="0"/>
                <a:ea typeface="Arial" pitchFamily="34" charset="-122"/>
                <a:cs typeface="Arial" pitchFamily="34" charset="-120"/>
              </a:rPr>
              <a:t>Slot is taken</a:t>
            </a:r>
            <a:endParaRPr lang="en-US" sz="1200" dirty="0"/>
          </a:p>
        </p:txBody>
      </p:sp>
      <p:pic>
        <p:nvPicPr>
          <p:cNvPr id="16" name="Image 4" descr="arrow-right">    </p:cNvPr>
          <p:cNvPicPr>
            <a:picLocks noChangeAspect="1"/>
          </p:cNvPicPr>
          <p:nvPr/>
        </p:nvPicPr>
        <p:blipFill>
          <a:blip r:embed="rId5"/>
          <a:srcRect l="0" r="0" t="0" b="0"/>
          <a:stretch/>
        </p:blipFill>
        <p:spPr>
          <a:xfrm>
            <a:off x="7239000" y="3869630"/>
            <a:ext cx="355600" cy="177800"/>
          </a:xfrm>
          <a:prstGeom prst="rect">
            <a:avLst/>
          </a:prstGeom>
        </p:spPr>
      </p:pic>
      <p:sp>
        <p:nvSpPr>
          <p:cNvPr id="17" name="Text 10"/>
          <p:cNvSpPr/>
          <p:nvPr/>
        </p:nvSpPr>
        <p:spPr>
          <a:xfrm>
            <a:off x="7721600" y="3567410"/>
            <a:ext cx="3657600" cy="782241"/>
          </a:xfrm>
          <a:prstGeom prst="roundRect">
            <a:avLst>
              <a:gd name="adj" fmla="val 12988"/>
            </a:avLst>
          </a:prstGeom>
          <a:solidFill>
            <a:srgbClr val="16191E"/>
          </a:solidFill>
          <a:ln/>
        </p:spPr>
        <p:txBody>
          <a:bodyPr wrap="square" lIns="148042" tIns="148042" rIns="48982" bIns="122642" rtlCol="0" anchor="t">
            <a:normAutofit/>
          </a:bodyPr>
          <a:lstStyle/>
          <a:p>
            <a:pPr algn="l" indent="0" marL="0">
              <a:lnSpc>
                <a:spcPts val="1680"/>
              </a:lnSpc>
              <a:buNone/>
            </a:pPr>
            <a:r>
              <a:rPr lang="en-US" sz="1200" dirty="0">
                <a:solidFill>
                  <a:srgbClr val="ECEFF3"/>
                </a:solidFill>
                <a:latin typeface="Arial" pitchFamily="34" charset="0"/>
                <a:ea typeface="Arial" pitchFamily="34" charset="-122"/>
                <a:cs typeface="Arial" pitchFamily="34" charset="-120"/>
              </a:rPr>
              <a:t>Stored result returned. The real API is never called.</a:t>
            </a:r>
            <a:endParaRPr lang="en-US" sz="1200" dirty="0"/>
          </a:p>
        </p:txBody>
      </p:sp>
      <p:sp>
        <p:nvSpPr>
          <p:cNvPr id="18" name="Text 11"/>
          <p:cNvSpPr/>
          <p:nvPr/>
        </p:nvSpPr>
        <p:spPr>
          <a:xfrm>
            <a:off x="812800" y="5476280"/>
            <a:ext cx="102031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058"/>
                </a:solidFill>
                <a:latin typeface="Arial" pitchFamily="34" charset="0"/>
                <a:ea typeface="Arial" pitchFamily="34" charset="-122"/>
                <a:cs typeface="Arial" pitchFamily="34" charset="-120"/>
              </a:rPr>
              <a:t>The slot is claimed atomically in shared storage, so it holds across retries, crashed workers and many machines at once, and it is proven under real concurrent load.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6A08"/>
                </a:solidFill>
                <a:latin typeface="Arial" pitchFamily="34" charset="0"/>
                <a:ea typeface="Arial" pitchFamily="34" charset="-122"/>
                <a:cs typeface="Arial" pitchFamily="34" charset="-120"/>
              </a:rPr>
              <a:t>WHEN SOMETHING GOES WRONG</a:t>
            </a:r>
            <a:endParaRPr lang="en-US" sz="1200" dirty="0"/>
          </a:p>
        </p:txBody>
      </p:sp>
      <p:sp>
        <p:nvSpPr>
          <p:cNvPr id="3" name="Text 1"/>
          <p:cNvSpPr/>
          <p:nvPr>
            <p:ph type="title"/>
          </p:nvPr>
        </p:nvSpPr>
        <p:spPr>
          <a:xfrm>
            <a:off x="812800" y="1153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E"/>
                </a:solidFill>
                <a:latin typeface="Arial" pitchFamily="34" charset="0"/>
                <a:ea typeface="Arial" pitchFamily="34" charset="-122"/>
                <a:cs typeface="Arial" pitchFamily="34" charset="-120"/>
              </a:rPr>
              <a:t>Undo it, or test it before it ships</a:t>
            </a:r>
            <a:endParaRPr lang="en-US" sz="3600" dirty="0"/>
          </a:p>
        </p:txBody>
      </p:sp>
      <p:sp>
        <p:nvSpPr>
          <p:cNvPr id="4" name="Shape 2"/>
          <p:cNvSpPr/>
          <p:nvPr/>
        </p:nvSpPr>
        <p:spPr>
          <a:xfrm>
            <a:off x="815975" y="1963936"/>
            <a:ext cx="5181600" cy="4078089"/>
          </a:xfrm>
          <a:prstGeom prst="roundRect">
            <a:avLst>
              <a:gd name="adj" fmla="val 3036"/>
            </a:avLst>
          </a:prstGeom>
          <a:solidFill>
            <a:srgbClr val="F7F6F2"/>
          </a:solidFill>
          <a:ln w="6350">
            <a:solidFill>
              <a:srgbClr val="E4E2DC"/>
            </a:solidFill>
            <a:prstDash val="solid"/>
          </a:ln>
        </p:spPr>
      </p:sp>
      <p:sp>
        <p:nvSpPr>
          <p:cNvPr id="5" name="Text 3"/>
          <p:cNvSpPr/>
          <p:nvPr/>
        </p:nvSpPr>
        <p:spPr>
          <a:xfrm>
            <a:off x="1073150" y="2221111"/>
            <a:ext cx="48072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Undo log</a:t>
            </a:r>
            <a:endParaRPr lang="en-US" sz="1200" dirty="0"/>
          </a:p>
        </p:txBody>
      </p:sp>
      <p:sp>
        <p:nvSpPr>
          <p:cNvPr id="6" name="Text 4"/>
          <p:cNvSpPr/>
          <p:nvPr/>
        </p:nvSpPr>
        <p:spPr>
          <a:xfrm>
            <a:off x="1073150" y="2536031"/>
            <a:ext cx="48072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Reverse an action, once</a:t>
            </a:r>
            <a:endParaRPr lang="en-US" sz="1600" dirty="0"/>
          </a:p>
        </p:txBody>
      </p:sp>
      <p:sp>
        <p:nvSpPr>
          <p:cNvPr id="7" name="Text 5"/>
          <p:cNvSpPr/>
          <p:nvPr/>
        </p:nvSpPr>
        <p:spPr>
          <a:xfrm>
            <a:off x="1073150" y="2881412"/>
            <a:ext cx="480726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A Stripe charge is refunded, a Slack message deleted, a custom action reversed by the action you name.</a:t>
            </a:r>
            <a:endParaRPr lang="en-US" sz="1200" dirty="0"/>
          </a:p>
        </p:txBody>
      </p:sp>
      <p:sp>
        <p:nvSpPr>
          <p:cNvPr id="8" name="Text 6"/>
          <p:cNvSpPr/>
          <p:nvPr/>
        </p:nvSpPr>
        <p:spPr>
          <a:xfrm>
            <a:off x="1073150" y="3424932"/>
            <a:ext cx="480726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Kept for 30 days. Two clicks at the same moment still reverse it only once.</a:t>
            </a:r>
            <a:endParaRPr lang="en-US" sz="1200" dirty="0"/>
          </a:p>
        </p:txBody>
      </p:sp>
      <p:sp>
        <p:nvSpPr>
          <p:cNvPr id="9" name="Text 7"/>
          <p:cNvSpPr/>
          <p:nvPr/>
        </p:nvSpPr>
        <p:spPr>
          <a:xfrm>
            <a:off x="1073150" y="3968452"/>
            <a:ext cx="480726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In the dashboard: Monitor, Undo actions.</a:t>
            </a:r>
            <a:endParaRPr lang="en-US" sz="1200" dirty="0"/>
          </a:p>
        </p:txBody>
      </p:sp>
      <p:sp>
        <p:nvSpPr>
          <p:cNvPr id="10" name="Shape 8"/>
          <p:cNvSpPr/>
          <p:nvPr/>
        </p:nvSpPr>
        <p:spPr>
          <a:xfrm>
            <a:off x="6203950" y="1960761"/>
            <a:ext cx="5175250" cy="4084439"/>
          </a:xfrm>
          <a:prstGeom prst="roundRect">
            <a:avLst>
              <a:gd name="adj" fmla="val 3109"/>
            </a:avLst>
          </a:prstGeom>
          <a:solidFill>
            <a:srgbClr val="16191E"/>
          </a:solidFill>
          <a:ln/>
        </p:spPr>
      </p:sp>
      <p:sp>
        <p:nvSpPr>
          <p:cNvPr id="11" name="Text 9"/>
          <p:cNvSpPr/>
          <p:nvPr/>
        </p:nvSpPr>
        <p:spPr>
          <a:xfrm>
            <a:off x="6457950" y="2214761"/>
            <a:ext cx="48072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544"/>
                </a:solidFill>
                <a:latin typeface="Arial" pitchFamily="34" charset="0"/>
                <a:ea typeface="Arial" pitchFamily="34" charset="-122"/>
                <a:cs typeface="Arial" pitchFamily="34" charset="-120"/>
              </a:rPr>
              <a:t>Record and replay</a:t>
            </a:r>
            <a:endParaRPr lang="en-US" sz="1200" dirty="0"/>
          </a:p>
        </p:txBody>
      </p:sp>
      <p:sp>
        <p:nvSpPr>
          <p:cNvPr id="12" name="Text 10"/>
          <p:cNvSpPr/>
          <p:nvPr/>
        </p:nvSpPr>
        <p:spPr>
          <a:xfrm>
            <a:off x="6457950" y="2529681"/>
            <a:ext cx="48072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CEFF3"/>
                </a:solidFill>
                <a:latin typeface="Arial" pitchFamily="34" charset="0"/>
                <a:ea typeface="Arial" pitchFamily="34" charset="-122"/>
                <a:cs typeface="Arial" pitchFamily="34" charset="-120"/>
              </a:rPr>
              <a:t>Test against real answers</a:t>
            </a:r>
            <a:endParaRPr lang="en-US" sz="1600" dirty="0"/>
          </a:p>
        </p:txBody>
      </p:sp>
      <p:sp>
        <p:nvSpPr>
          <p:cNvPr id="13" name="Text 11"/>
          <p:cNvSpPr/>
          <p:nvPr/>
        </p:nvSpPr>
        <p:spPr>
          <a:xfrm>
            <a:off x="6457950" y="2875062"/>
            <a:ext cx="4807268"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C0CB"/>
                </a:solidFill>
                <a:latin typeface="Arial" pitchFamily="34" charset="0"/>
                <a:ea typeface="Arial" pitchFamily="34" charset="-122"/>
                <a:cs typeface="Arial" pitchFamily="34" charset="-120"/>
              </a:rPr>
              <a:t>Record a run once against the real providers, then replay it in CI or after a prompt change.</a:t>
            </a:r>
            <a:endParaRPr lang="en-US" sz="1200" dirty="0"/>
          </a:p>
        </p:txBody>
      </p:sp>
      <p:sp>
        <p:nvSpPr>
          <p:cNvPr id="14" name="Text 12"/>
          <p:cNvSpPr/>
          <p:nvPr/>
        </p:nvSpPr>
        <p:spPr>
          <a:xfrm>
            <a:off x="6457950" y="3418582"/>
            <a:ext cx="4807268"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C0CB"/>
                </a:solidFill>
                <a:latin typeface="Arial" pitchFamily="34" charset="0"/>
                <a:ea typeface="Arial" pitchFamily="34" charset="-122"/>
                <a:cs typeface="Arial" pitchFamily="34" charset="-120"/>
              </a:rPr>
              <a:t>Every call is answered from the recording; nothing reaches the provider. A changed payload or a call the recording lacks fails the test.</a:t>
            </a:r>
            <a:endParaRPr lang="en-US" sz="1200" dirty="0"/>
          </a:p>
        </p:txBody>
      </p:sp>
      <p:sp>
        <p:nvSpPr>
          <p:cNvPr id="15" name="Text 13"/>
          <p:cNvSpPr/>
          <p:nvPr/>
        </p:nvSpPr>
        <p:spPr>
          <a:xfrm>
            <a:off x="6457950" y="4183063"/>
            <a:ext cx="4807268"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C0CB"/>
                </a:solidFill>
                <a:latin typeface="Arial" pitchFamily="34" charset="0"/>
                <a:ea typeface="Arial" pitchFamily="34" charset="-122"/>
                <a:cs typeface="Arial" pitchFamily="34" charset="-120"/>
              </a:rPr>
              <a:t>Webhook, Python and TypeScript SDK, and MCP.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6A08"/>
                </a:solidFill>
                <a:latin typeface="Arial" pitchFamily="34" charset="0"/>
                <a:ea typeface="Arial" pitchFamily="34" charset="-122"/>
                <a:cs typeface="Arial" pitchFamily="34" charset="-120"/>
              </a:rPr>
              <a:t>GETTING STARTED</a:t>
            </a:r>
            <a:endParaRPr lang="en-US" sz="1200" dirty="0"/>
          </a:p>
        </p:txBody>
      </p:sp>
      <p:sp>
        <p:nvSpPr>
          <p:cNvPr id="3" name="Text 1"/>
          <p:cNvSpPr/>
          <p:nvPr>
            <p:ph type="title"/>
          </p:nvPr>
        </p:nvSpPr>
        <p:spPr>
          <a:xfrm>
            <a:off x="812800" y="1153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E"/>
                </a:solidFill>
                <a:latin typeface="Arial" pitchFamily="34" charset="0"/>
                <a:ea typeface="Arial" pitchFamily="34" charset="-122"/>
                <a:cs typeface="Arial" pitchFamily="34" charset="-120"/>
              </a:rPr>
              <a:t>Start free, without an account</a:t>
            </a:r>
            <a:endParaRPr lang="en-US" sz="3600" dirty="0"/>
          </a:p>
        </p:txBody>
      </p:sp>
      <p:sp>
        <p:nvSpPr>
          <p:cNvPr id="4" name="Shape 2"/>
          <p:cNvSpPr/>
          <p:nvPr/>
        </p:nvSpPr>
        <p:spPr>
          <a:xfrm>
            <a:off x="815975" y="1963936"/>
            <a:ext cx="3113584" cy="1982291"/>
          </a:xfrm>
          <a:prstGeom prst="roundRect">
            <a:avLst>
              <a:gd name="adj" fmla="val 6247"/>
            </a:avLst>
          </a:prstGeom>
          <a:solidFill>
            <a:srgbClr val="F7F6F2"/>
          </a:solidFill>
          <a:ln w="6350">
            <a:solidFill>
              <a:srgbClr val="E4E2DC"/>
            </a:solidFill>
            <a:prstDash val="solid"/>
          </a:ln>
        </p:spPr>
      </p:sp>
      <p:sp>
        <p:nvSpPr>
          <p:cNvPr id="5" name="Text 3"/>
          <p:cNvSpPr/>
          <p:nvPr/>
        </p:nvSpPr>
        <p:spPr>
          <a:xfrm>
            <a:off x="1047750" y="2195711"/>
            <a:ext cx="2729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Find the bug</a:t>
            </a:r>
            <a:endParaRPr lang="en-US" sz="1200" dirty="0"/>
          </a:p>
        </p:txBody>
      </p:sp>
      <p:sp>
        <p:nvSpPr>
          <p:cNvPr id="6" name="Text 4"/>
          <p:cNvSpPr/>
          <p:nvPr/>
        </p:nvSpPr>
        <p:spPr>
          <a:xfrm>
            <a:off x="1047750" y="2497931"/>
            <a:ext cx="27295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Chaos tester</a:t>
            </a:r>
            <a:endParaRPr lang="en-US" sz="1600" dirty="0"/>
          </a:p>
        </p:txBody>
      </p:sp>
      <p:sp>
        <p:nvSpPr>
          <p:cNvPr id="7" name="Text 5"/>
          <p:cNvSpPr/>
          <p:nvPr/>
        </p:nvSpPr>
        <p:spPr>
          <a:xfrm>
            <a:off x="1047750" y="2830612"/>
            <a:ext cx="2729535"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Shows the calls an agent would run twice, and agentraas scan checks an MCP server. Free, no signup, both run in CI.</a:t>
            </a:r>
            <a:endParaRPr lang="en-US" sz="1200" dirty="0"/>
          </a:p>
        </p:txBody>
      </p:sp>
      <p:pic>
        <p:nvPicPr>
          <p:cNvPr id="8" name="Image 0" descr="arrow-right">    </p:cNvPr>
          <p:cNvPicPr>
            <a:picLocks noChangeAspect="1"/>
          </p:cNvPicPr>
          <p:nvPr/>
        </p:nvPicPr>
        <p:blipFill>
          <a:blip r:embed="rId1"/>
          <a:srcRect l="0" r="0" t="0" b="0"/>
          <a:stretch/>
        </p:blipFill>
        <p:spPr>
          <a:xfrm>
            <a:off x="4059734" y="2866132"/>
            <a:ext cx="355600" cy="177800"/>
          </a:xfrm>
          <a:prstGeom prst="rect">
            <a:avLst/>
          </a:prstGeom>
        </p:spPr>
      </p:pic>
      <p:sp>
        <p:nvSpPr>
          <p:cNvPr id="9" name="Shape 6"/>
          <p:cNvSpPr/>
          <p:nvPr/>
        </p:nvSpPr>
        <p:spPr>
          <a:xfrm>
            <a:off x="4545509" y="2074366"/>
            <a:ext cx="3113683" cy="1761331"/>
          </a:xfrm>
          <a:prstGeom prst="roundRect">
            <a:avLst>
              <a:gd name="adj" fmla="val 7030"/>
            </a:avLst>
          </a:prstGeom>
          <a:solidFill>
            <a:srgbClr val="F7F6F2"/>
          </a:solidFill>
          <a:ln w="6350">
            <a:solidFill>
              <a:srgbClr val="E4E2DC"/>
            </a:solidFill>
            <a:prstDash val="solid"/>
          </a:ln>
        </p:spPr>
      </p:sp>
      <p:sp>
        <p:nvSpPr>
          <p:cNvPr id="10" name="Text 7"/>
          <p:cNvSpPr/>
          <p:nvPr/>
        </p:nvSpPr>
        <p:spPr>
          <a:xfrm>
            <a:off x="4777284" y="2306141"/>
            <a:ext cx="272963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Fix it in code</a:t>
            </a:r>
            <a:endParaRPr lang="en-US" sz="1200" dirty="0"/>
          </a:p>
        </p:txBody>
      </p:sp>
      <p:sp>
        <p:nvSpPr>
          <p:cNvPr id="11" name="Text 8"/>
          <p:cNvSpPr/>
          <p:nvPr/>
        </p:nvSpPr>
        <p:spPr>
          <a:xfrm>
            <a:off x="4777284" y="2608362"/>
            <a:ext cx="272963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Library and MCP wrap</a:t>
            </a:r>
            <a:endParaRPr lang="en-US" sz="1600" dirty="0"/>
          </a:p>
        </p:txBody>
      </p:sp>
      <p:sp>
        <p:nvSpPr>
          <p:cNvPr id="12" name="Text 9"/>
          <p:cNvSpPr/>
          <p:nvPr/>
        </p:nvSpPr>
        <p:spPr>
          <a:xfrm>
            <a:off x="4777284" y="2941042"/>
            <a:ext cx="2729637"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An exactly-once decorator, and one command that protects any MCP server.</a:t>
            </a:r>
            <a:endParaRPr lang="en-US" sz="1200" dirty="0"/>
          </a:p>
        </p:txBody>
      </p:sp>
      <p:pic>
        <p:nvPicPr>
          <p:cNvPr id="13" name="Image 1" descr="arrow-right">    </p:cNvPr>
          <p:cNvPicPr>
            <a:picLocks noChangeAspect="1"/>
          </p:cNvPicPr>
          <p:nvPr/>
        </p:nvPicPr>
        <p:blipFill>
          <a:blip r:embed="rId2"/>
          <a:srcRect l="0" r="0" t="0" b="0"/>
          <a:stretch/>
        </p:blipFill>
        <p:spPr>
          <a:xfrm>
            <a:off x="7789366" y="2866132"/>
            <a:ext cx="355600" cy="177800"/>
          </a:xfrm>
          <a:prstGeom prst="rect">
            <a:avLst/>
          </a:prstGeom>
        </p:spPr>
      </p:pic>
      <p:sp>
        <p:nvSpPr>
          <p:cNvPr id="14" name="Shape 10"/>
          <p:cNvSpPr/>
          <p:nvPr/>
        </p:nvSpPr>
        <p:spPr>
          <a:xfrm>
            <a:off x="8271966" y="2077541"/>
            <a:ext cx="3107234" cy="1754981"/>
          </a:xfrm>
          <a:prstGeom prst="roundRect">
            <a:avLst>
              <a:gd name="adj" fmla="val 7237"/>
            </a:avLst>
          </a:prstGeom>
          <a:solidFill>
            <a:srgbClr val="16191E"/>
          </a:solidFill>
          <a:ln/>
        </p:spPr>
      </p:sp>
      <p:sp>
        <p:nvSpPr>
          <p:cNvPr id="15" name="Text 11"/>
          <p:cNvSpPr/>
          <p:nvPr/>
        </p:nvSpPr>
        <p:spPr>
          <a:xfrm>
            <a:off x="8500566" y="2306141"/>
            <a:ext cx="2729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544"/>
                </a:solidFill>
                <a:latin typeface="Arial" pitchFamily="34" charset="0"/>
                <a:ea typeface="Arial" pitchFamily="34" charset="-122"/>
                <a:cs typeface="Arial" pitchFamily="34" charset="-120"/>
              </a:rPr>
              <a:t>Run it as a platform</a:t>
            </a:r>
            <a:endParaRPr lang="en-US" sz="1200" dirty="0"/>
          </a:p>
        </p:txBody>
      </p:sp>
      <p:sp>
        <p:nvSpPr>
          <p:cNvPr id="16" name="Text 12"/>
          <p:cNvSpPr/>
          <p:nvPr/>
        </p:nvSpPr>
        <p:spPr>
          <a:xfrm>
            <a:off x="8500566" y="2608362"/>
            <a:ext cx="272953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CEFF3"/>
                </a:solidFill>
                <a:latin typeface="Arial" pitchFamily="34" charset="0"/>
                <a:ea typeface="Arial" pitchFamily="34" charset="-122"/>
                <a:cs typeface="Arial" pitchFamily="34" charset="-120"/>
              </a:rPr>
              <a:t>Self-host it, free</a:t>
            </a:r>
            <a:endParaRPr lang="en-US" sz="1600" dirty="0"/>
          </a:p>
        </p:txBody>
      </p:sp>
      <p:sp>
        <p:nvSpPr>
          <p:cNvPr id="17" name="Text 13"/>
          <p:cNvSpPr/>
          <p:nvPr/>
        </p:nvSpPr>
        <p:spPr>
          <a:xfrm>
            <a:off x="8500566" y="2941042"/>
            <a:ext cx="2729535"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C0CB"/>
                </a:solidFill>
                <a:latin typeface="Arial" pitchFamily="34" charset="0"/>
                <a:ea typeface="Arial" pitchFamily="34" charset="-122"/>
                <a:cs typeface="Arial" pitchFamily="34" charset="-120"/>
              </a:rPr>
              <a:t>Exactly-once, policies, approvals, SSO, undo and the audit trail on Linux, macOS or Windows, no action limit.</a:t>
            </a:r>
            <a:endParaRPr lang="en-US" sz="1200" dirty="0"/>
          </a:p>
        </p:txBody>
      </p:sp>
      <p:sp>
        <p:nvSpPr>
          <p:cNvPr id="18" name="Text 14"/>
          <p:cNvSpPr/>
          <p:nvPr/>
        </p:nvSpPr>
        <p:spPr>
          <a:xfrm>
            <a:off x="812800" y="4254202"/>
            <a:ext cx="3420467" cy="746720"/>
          </a:xfrm>
          <a:prstGeom prst="roundRect">
            <a:avLst>
              <a:gd name="adj" fmla="val 10205"/>
            </a:avLst>
          </a:prstGeom>
          <a:solidFill>
            <a:srgbClr val="F7F6F2"/>
          </a:solidFill>
          <a:ln/>
        </p:spPr>
        <p:txBody>
          <a:bodyPr wrap="square" lIns="130082" tIns="130082" rIns="36612" bIns="104682" rtlCol="0" anchor="t">
            <a:normAutofit/>
          </a:bodyPr>
          <a:lstStyle/>
          <a:p>
            <a:pPr algn="l" indent="0" marL="0">
              <a:lnSpc>
                <a:spcPts val="1740"/>
              </a:lnSpc>
              <a:buNone/>
            </a:pPr>
            <a:r>
              <a:rPr lang="en-US" sz="1200" b="1" dirty="0">
                <a:solidFill>
                  <a:srgbClr val="4A5058"/>
                </a:solidFill>
                <a:latin typeface="Arial" pitchFamily="34" charset="0"/>
                <a:ea typeface="Arial" pitchFamily="34" charset="-122"/>
                <a:cs typeface="Arial" pitchFamily="34" charset="-120"/>
              </a:rPr>
              <a:t>Connect by</a:t>
            </a:r>
            <a:r>
              <a:rPr lang="en-US" sz="1200" dirty="0">
                <a:solidFill>
                  <a:srgbClr val="4A5058"/>
                </a:solidFill>
                <a:latin typeface="Arial" pitchFamily="34" charset="0"/>
                <a:ea typeface="Arial" pitchFamily="34" charset="-122"/>
                <a:cs typeface="Arial" pitchFamily="34" charset="-120"/>
              </a:rPr>
              <a:t> webhook, Python or TypeScript SDK, or MCP</a:t>
            </a:r>
            <a:endParaRPr lang="en-US" sz="1200" dirty="0"/>
          </a:p>
        </p:txBody>
      </p:sp>
      <p:sp>
        <p:nvSpPr>
          <p:cNvPr id="19" name="Text 15"/>
          <p:cNvSpPr/>
          <p:nvPr/>
        </p:nvSpPr>
        <p:spPr>
          <a:xfrm>
            <a:off x="4385667" y="4254202"/>
            <a:ext cx="3420566" cy="746720"/>
          </a:xfrm>
          <a:prstGeom prst="roundRect">
            <a:avLst>
              <a:gd name="adj" fmla="val 10205"/>
            </a:avLst>
          </a:prstGeom>
          <a:solidFill>
            <a:srgbClr val="F7F6F2"/>
          </a:solidFill>
          <a:ln/>
        </p:spPr>
        <p:txBody>
          <a:bodyPr wrap="square" lIns="130082" tIns="130082" rIns="36609" bIns="104682" rtlCol="0" anchor="t">
            <a:normAutofit/>
          </a:bodyPr>
          <a:lstStyle/>
          <a:p>
            <a:pPr algn="l" indent="0" marL="0">
              <a:lnSpc>
                <a:spcPts val="1740"/>
              </a:lnSpc>
              <a:buNone/>
            </a:pPr>
            <a:r>
              <a:rPr lang="en-US" sz="1200" b="1" dirty="0">
                <a:solidFill>
                  <a:srgbClr val="4A5058"/>
                </a:solidFill>
                <a:latin typeface="Arial" pitchFamily="34" charset="0"/>
                <a:ea typeface="Arial" pitchFamily="34" charset="-122"/>
                <a:cs typeface="Arial" pitchFamily="34" charset="-120"/>
              </a:rPr>
              <a:t>Works with</a:t>
            </a:r>
            <a:r>
              <a:rPr lang="en-US" sz="1200" dirty="0">
                <a:solidFill>
                  <a:srgbClr val="4A5058"/>
                </a:solidFill>
                <a:latin typeface="Arial" pitchFamily="34" charset="0"/>
                <a:ea typeface="Arial" pitchFamily="34" charset="-122"/>
                <a:cs typeface="Arial" pitchFamily="34" charset="-120"/>
              </a:rPr>
              <a:t> n8n (community node), LangChain, CrewAI and any HTTP client</a:t>
            </a:r>
            <a:endParaRPr lang="en-US" sz="1200" dirty="0"/>
          </a:p>
        </p:txBody>
      </p:sp>
      <p:sp>
        <p:nvSpPr>
          <p:cNvPr id="20" name="Text 16"/>
          <p:cNvSpPr/>
          <p:nvPr/>
        </p:nvSpPr>
        <p:spPr>
          <a:xfrm>
            <a:off x="7958634" y="4254202"/>
            <a:ext cx="3420566" cy="746720"/>
          </a:xfrm>
          <a:prstGeom prst="roundRect">
            <a:avLst>
              <a:gd name="adj" fmla="val 10205"/>
            </a:avLst>
          </a:prstGeom>
          <a:solidFill>
            <a:srgbClr val="F7F6F2"/>
          </a:solidFill>
          <a:ln/>
        </p:spPr>
        <p:txBody>
          <a:bodyPr wrap="square" lIns="130082" tIns="130082" rIns="36609" bIns="104682" rtlCol="0" anchor="t">
            <a:normAutofit/>
          </a:bodyPr>
          <a:lstStyle/>
          <a:p>
            <a:pPr algn="l" indent="0" marL="0">
              <a:lnSpc>
                <a:spcPts val="1740"/>
              </a:lnSpc>
              <a:buNone/>
            </a:pPr>
            <a:r>
              <a:rPr lang="en-US" sz="1200" b="1" dirty="0">
                <a:solidFill>
                  <a:srgbClr val="4A5058"/>
                </a:solidFill>
                <a:latin typeface="Arial" pitchFamily="34" charset="0"/>
                <a:ea typeface="Arial" pitchFamily="34" charset="-122"/>
                <a:cs typeface="Arial" pitchFamily="34" charset="-120"/>
              </a:rPr>
              <a:t>Found through</a:t>
            </a:r>
            <a:r>
              <a:rPr lang="en-US" sz="1200" dirty="0">
                <a:solidFill>
                  <a:srgbClr val="4A5058"/>
                </a:solidFill>
                <a:latin typeface="Arial" pitchFamily="34" charset="0"/>
                <a:ea typeface="Arial" pitchFamily="34" charset="-122"/>
                <a:cs typeface="Arial" pitchFamily="34" charset="-120"/>
              </a:rPr>
              <a:t> PyPI, npm, GitHub and the official MCP Registry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6A08"/>
                </a:solidFill>
                <a:latin typeface="Arial" pitchFamily="34" charset="0"/>
                <a:ea typeface="Arial" pitchFamily="34" charset="-122"/>
                <a:cs typeface="Arial" pitchFamily="34" charset="-120"/>
              </a:rPr>
              <a:t>BUILT FOR THE CRITICAL PATH</a:t>
            </a:r>
            <a:endParaRPr lang="en-US" sz="1200" dirty="0"/>
          </a:p>
        </p:txBody>
      </p:sp>
      <p:sp>
        <p:nvSpPr>
          <p:cNvPr id="3" name="Text 1"/>
          <p:cNvSpPr/>
          <p:nvPr>
            <p:ph type="title"/>
          </p:nvPr>
        </p:nvSpPr>
        <p:spPr>
          <a:xfrm>
            <a:off x="812800" y="1153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E"/>
                </a:solidFill>
                <a:latin typeface="Arial" pitchFamily="34" charset="0"/>
                <a:ea typeface="Arial" pitchFamily="34" charset="-122"/>
                <a:cs typeface="Arial" pitchFamily="34" charset="-120"/>
              </a:rPr>
              <a:t>Fast, open and self-hostable</a:t>
            </a:r>
            <a:endParaRPr lang="en-US" sz="3600" dirty="0"/>
          </a:p>
        </p:txBody>
      </p:sp>
      <p:sp>
        <p:nvSpPr>
          <p:cNvPr id="4" name="Shape 2"/>
          <p:cNvSpPr/>
          <p:nvPr/>
        </p:nvSpPr>
        <p:spPr>
          <a:xfrm>
            <a:off x="812800" y="1960761"/>
            <a:ext cx="5461000" cy="3881239"/>
          </a:xfrm>
          <a:prstGeom prst="roundRect">
            <a:avLst>
              <a:gd name="adj" fmla="val 3927"/>
            </a:avLst>
          </a:prstGeom>
          <a:solidFill>
            <a:srgbClr val="16191E"/>
          </a:solidFill>
          <a:ln/>
        </p:spPr>
      </p:sp>
      <p:sp>
        <p:nvSpPr>
          <p:cNvPr id="5" name="Shape 3"/>
          <p:cNvSpPr/>
          <p:nvPr/>
        </p:nvSpPr>
        <p:spPr>
          <a:xfrm>
            <a:off x="1168400" y="3153370"/>
            <a:ext cx="762000" cy="63500"/>
          </a:xfrm>
          <a:prstGeom prst="roundRect">
            <a:avLst>
              <a:gd name="adj" fmla="val 50000"/>
            </a:avLst>
          </a:prstGeom>
          <a:solidFill>
            <a:srgbClr val="F2B544"/>
          </a:solidFill>
          <a:ln/>
        </p:spPr>
      </p:sp>
      <p:sp>
        <p:nvSpPr>
          <p:cNvPr id="6" name="Text 4"/>
          <p:cNvSpPr/>
          <p:nvPr/>
        </p:nvSpPr>
        <p:spPr>
          <a:xfrm>
            <a:off x="1168400" y="3369270"/>
            <a:ext cx="4892294" cy="584200"/>
          </a:xfrm>
          <a:prstGeom prst="rect">
            <a:avLst/>
          </a:prstGeom>
          <a:noFill/>
          <a:ln/>
        </p:spPr>
        <p:txBody>
          <a:bodyPr wrap="square" lIns="0" tIns="0" rIns="0" bIns="0" rtlCol="0" anchor="t">
            <a:normAutofit/>
          </a:bodyPr>
          <a:lstStyle/>
          <a:p>
            <a:pPr algn="l" indent="0" marL="0">
              <a:lnSpc>
                <a:spcPts val="4400"/>
              </a:lnSpc>
              <a:buNone/>
            </a:pPr>
            <a:r>
              <a:rPr lang="en-US" sz="4400" b="1" spc="-100" kern="0" dirty="0">
                <a:solidFill>
                  <a:srgbClr val="ECEFF3"/>
                </a:solidFill>
                <a:latin typeface="Arial" pitchFamily="34" charset="0"/>
                <a:ea typeface="Arial" pitchFamily="34" charset="-122"/>
                <a:cs typeface="Arial" pitchFamily="34" charset="-120"/>
              </a:rPr>
              <a:t>2.1 to 2.4 ms</a:t>
            </a:r>
            <a:endParaRPr lang="en-US" sz="4400" dirty="0"/>
          </a:p>
        </p:txBody>
      </p:sp>
      <p:sp>
        <p:nvSpPr>
          <p:cNvPr id="7" name="Text 5"/>
          <p:cNvSpPr/>
          <p:nvPr/>
        </p:nvSpPr>
        <p:spPr>
          <a:xfrm>
            <a:off x="1168400" y="4080470"/>
            <a:ext cx="489229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C0CB"/>
                </a:solidFill>
                <a:latin typeface="Arial" pitchFamily="34" charset="0"/>
                <a:ea typeface="Arial" pitchFamily="34" charset="-122"/>
                <a:cs typeface="Arial" pitchFamily="34" charset="-120"/>
              </a:rPr>
              <a:t>added per call at the median. A retried duplicate is answered from cache and never reaches the API.</a:t>
            </a:r>
            <a:endParaRPr lang="en-US" sz="1600" dirty="0"/>
          </a:p>
        </p:txBody>
      </p:sp>
      <p:sp>
        <p:nvSpPr>
          <p:cNvPr id="8" name="Shape 6"/>
          <p:cNvSpPr/>
          <p:nvPr/>
        </p:nvSpPr>
        <p:spPr>
          <a:xfrm>
            <a:off x="6530975" y="1963936"/>
            <a:ext cx="4845050" cy="1098451"/>
          </a:xfrm>
          <a:prstGeom prst="roundRect">
            <a:avLst>
              <a:gd name="adj" fmla="val 8960"/>
            </a:avLst>
          </a:prstGeom>
          <a:solidFill>
            <a:srgbClr val="F7F6F2"/>
          </a:solidFill>
          <a:ln w="6350">
            <a:solidFill>
              <a:srgbClr val="E4E2DC"/>
            </a:solidFill>
            <a:prstDash val="solid"/>
          </a:ln>
        </p:spPr>
      </p:sp>
      <p:sp>
        <p:nvSpPr>
          <p:cNvPr id="9" name="Text 7"/>
          <p:cNvSpPr/>
          <p:nvPr/>
        </p:nvSpPr>
        <p:spPr>
          <a:xfrm>
            <a:off x="6711950" y="2144911"/>
            <a:ext cx="461759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Rust core</a:t>
            </a:r>
            <a:endParaRPr lang="en-US" sz="1600" dirty="0"/>
          </a:p>
        </p:txBody>
      </p:sp>
      <p:sp>
        <p:nvSpPr>
          <p:cNvPr id="10" name="Text 8"/>
          <p:cNvSpPr/>
          <p:nvPr/>
        </p:nvSpPr>
        <p:spPr>
          <a:xfrm>
            <a:off x="6711950" y="2439491"/>
            <a:ext cx="461759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An Axum and Tokio gateway on Postgres and Redis, serving production today.</a:t>
            </a:r>
            <a:endParaRPr lang="en-US" sz="1200" dirty="0"/>
          </a:p>
        </p:txBody>
      </p:sp>
      <p:sp>
        <p:nvSpPr>
          <p:cNvPr id="11" name="Shape 9"/>
          <p:cNvSpPr/>
          <p:nvPr/>
        </p:nvSpPr>
        <p:spPr>
          <a:xfrm>
            <a:off x="6530975" y="3195737"/>
            <a:ext cx="4845050" cy="1098451"/>
          </a:xfrm>
          <a:prstGeom prst="roundRect">
            <a:avLst>
              <a:gd name="adj" fmla="val 8960"/>
            </a:avLst>
          </a:prstGeom>
          <a:solidFill>
            <a:srgbClr val="F7F6F2"/>
          </a:solidFill>
          <a:ln w="6350">
            <a:solidFill>
              <a:srgbClr val="E4E2DC"/>
            </a:solidFill>
            <a:prstDash val="solid"/>
          </a:ln>
        </p:spPr>
      </p:sp>
      <p:sp>
        <p:nvSpPr>
          <p:cNvPr id="12" name="Text 10"/>
          <p:cNvSpPr/>
          <p:nvPr/>
        </p:nvSpPr>
        <p:spPr>
          <a:xfrm>
            <a:off x="6711950" y="3376712"/>
            <a:ext cx="461759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Open source core</a:t>
            </a:r>
            <a:endParaRPr lang="en-US" sz="1600" dirty="0"/>
          </a:p>
        </p:txBody>
      </p:sp>
      <p:sp>
        <p:nvSpPr>
          <p:cNvPr id="13" name="Text 11"/>
          <p:cNvSpPr/>
          <p:nvPr/>
        </p:nvSpPr>
        <p:spPr>
          <a:xfrm>
            <a:off x="6711950" y="3671292"/>
            <a:ext cx="461759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AGPL-3.0 server and every line of code public: you can read the code that guards your payments.</a:t>
            </a:r>
            <a:endParaRPr lang="en-US" sz="1200" dirty="0"/>
          </a:p>
        </p:txBody>
      </p:sp>
      <p:sp>
        <p:nvSpPr>
          <p:cNvPr id="14" name="Shape 12"/>
          <p:cNvSpPr/>
          <p:nvPr/>
        </p:nvSpPr>
        <p:spPr>
          <a:xfrm>
            <a:off x="6530975" y="4427538"/>
            <a:ext cx="4845050" cy="1098451"/>
          </a:xfrm>
          <a:prstGeom prst="roundRect">
            <a:avLst>
              <a:gd name="adj" fmla="val 8960"/>
            </a:avLst>
          </a:prstGeom>
          <a:solidFill>
            <a:srgbClr val="F7F6F2"/>
          </a:solidFill>
          <a:ln w="6350">
            <a:solidFill>
              <a:srgbClr val="E4E2DC"/>
            </a:solidFill>
            <a:prstDash val="solid"/>
          </a:ln>
        </p:spPr>
      </p:sp>
      <p:sp>
        <p:nvSpPr>
          <p:cNvPr id="15" name="Text 13"/>
          <p:cNvSpPr/>
          <p:nvPr/>
        </p:nvSpPr>
        <p:spPr>
          <a:xfrm>
            <a:off x="6711950" y="4608513"/>
            <a:ext cx="461759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Runs where the data is</a:t>
            </a:r>
            <a:endParaRPr lang="en-US" sz="1600" dirty="0"/>
          </a:p>
        </p:txBody>
      </p:sp>
      <p:sp>
        <p:nvSpPr>
          <p:cNvPr id="16" name="Text 14"/>
          <p:cNvSpPr/>
          <p:nvPr/>
        </p:nvSpPr>
        <p:spPr>
          <a:xfrm>
            <a:off x="6711950" y="4903093"/>
            <a:ext cx="461759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One command installs it on the customer's own servers: Linux, macOS or Windows.</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Arial" pitchFamily="34" charset="0"/>
                <a:ea typeface="Arial" pitchFamily="34" charset="-122"/>
                <a:cs typeface="Arial" pitchFamily="34" charset="-120"/>
              </a:rPr>
              <a:t>Latency: one machine (Intel Core i3-12100), local stack, 500 sequential calls, three runs; script in the repo.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6A08"/>
                </a:solidFill>
                <a:latin typeface="Arial" pitchFamily="34" charset="0"/>
                <a:ea typeface="Arial" pitchFamily="34" charset="-122"/>
                <a:cs typeface="Arial" pitchFamily="34" charset="-120"/>
              </a:rPr>
              <a:t>KEYS</a:t>
            </a:r>
            <a:endParaRPr lang="en-US" sz="1200" dirty="0"/>
          </a:p>
        </p:txBody>
      </p:sp>
      <p:sp>
        <p:nvSpPr>
          <p:cNvPr id="3" name="Text 1"/>
          <p:cNvSpPr/>
          <p:nvPr>
            <p:ph type="title"/>
          </p:nvPr>
        </p:nvSpPr>
        <p:spPr>
          <a:xfrm>
            <a:off x="812800" y="1153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E"/>
                </a:solidFill>
                <a:latin typeface="Arial" pitchFamily="34" charset="0"/>
                <a:ea typeface="Arial" pitchFamily="34" charset="-122"/>
                <a:cs typeface="Arial" pitchFamily="34" charset="-120"/>
              </a:rPr>
              <a:t>Your API keys stay yours</a:t>
            </a:r>
            <a:endParaRPr lang="en-US" sz="3600" dirty="0"/>
          </a:p>
        </p:txBody>
      </p:sp>
      <p:sp>
        <p:nvSpPr>
          <p:cNvPr id="4" name="Shape 2"/>
          <p:cNvSpPr/>
          <p:nvPr/>
        </p:nvSpPr>
        <p:spPr>
          <a:xfrm>
            <a:off x="815975" y="1963936"/>
            <a:ext cx="3384550" cy="3874889"/>
          </a:xfrm>
          <a:prstGeom prst="roundRect">
            <a:avLst>
              <a:gd name="adj" fmla="val 3659"/>
            </a:avLst>
          </a:prstGeom>
          <a:solidFill>
            <a:srgbClr val="F7F6F2"/>
          </a:solidFill>
          <a:ln w="6350">
            <a:solidFill>
              <a:srgbClr val="E4E2DC"/>
            </a:solidFill>
            <a:prstDash val="solid"/>
          </a:ln>
        </p:spPr>
      </p:sp>
      <p:sp>
        <p:nvSpPr>
          <p:cNvPr id="5" name="Text 3"/>
          <p:cNvSpPr/>
          <p:nvPr/>
        </p:nvSpPr>
        <p:spPr>
          <a:xfrm>
            <a:off x="1073150" y="2221111"/>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Every install</a:t>
            </a:r>
            <a:endParaRPr lang="en-US" sz="1200" dirty="0"/>
          </a:p>
        </p:txBody>
      </p:sp>
      <p:sp>
        <p:nvSpPr>
          <p:cNvPr id="6" name="Text 4"/>
          <p:cNvSpPr/>
          <p:nvPr/>
        </p:nvSpPr>
        <p:spPr>
          <a:xfrm>
            <a:off x="1073150" y="2536031"/>
            <a:ext cx="29563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Encrypted at rest</a:t>
            </a:r>
            <a:endParaRPr lang="en-US" sz="1600" dirty="0"/>
          </a:p>
        </p:txBody>
      </p:sp>
      <p:sp>
        <p:nvSpPr>
          <p:cNvPr id="7" name="Text 5"/>
          <p:cNvSpPr/>
          <p:nvPr/>
        </p:nvSpPr>
        <p:spPr>
          <a:xfrm>
            <a:off x="1073150" y="2881412"/>
            <a:ext cx="2956306"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Stripe, Slack and other keys are stored AES-256-GCM encrypted. Agents never see them: each agent holds only its own AgentRaaS key.</a:t>
            </a:r>
            <a:endParaRPr lang="en-US" sz="1200" dirty="0"/>
          </a:p>
        </p:txBody>
      </p:sp>
      <p:sp>
        <p:nvSpPr>
          <p:cNvPr id="8" name="Shape 6"/>
          <p:cNvSpPr/>
          <p:nvPr/>
        </p:nvSpPr>
        <p:spPr>
          <a:xfrm>
            <a:off x="4410075" y="1963936"/>
            <a:ext cx="3384550" cy="3874889"/>
          </a:xfrm>
          <a:prstGeom prst="roundRect">
            <a:avLst>
              <a:gd name="adj" fmla="val 3659"/>
            </a:avLst>
          </a:prstGeom>
          <a:solidFill>
            <a:srgbClr val="F7F6F2"/>
          </a:solidFill>
          <a:ln w="6350">
            <a:solidFill>
              <a:srgbClr val="E4E2DC"/>
            </a:solidFill>
            <a:prstDash val="solid"/>
          </a:ln>
        </p:spPr>
      </p:sp>
      <p:sp>
        <p:nvSpPr>
          <p:cNvPr id="9" name="Text 7"/>
          <p:cNvSpPr/>
          <p:nvPr/>
        </p:nvSpPr>
        <p:spPr>
          <a:xfrm>
            <a:off x="4667250" y="2221111"/>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6A08"/>
                </a:solidFill>
                <a:latin typeface="Arial" pitchFamily="34" charset="0"/>
                <a:ea typeface="Arial" pitchFamily="34" charset="-122"/>
                <a:cs typeface="Arial" pitchFamily="34" charset="-120"/>
              </a:rPr>
              <a:t>Self-hosted</a:t>
            </a:r>
            <a:endParaRPr lang="en-US" sz="1200" dirty="0"/>
          </a:p>
        </p:txBody>
      </p:sp>
      <p:sp>
        <p:nvSpPr>
          <p:cNvPr id="10" name="Text 8"/>
          <p:cNvSpPr/>
          <p:nvPr/>
        </p:nvSpPr>
        <p:spPr>
          <a:xfrm>
            <a:off x="4667250" y="2536031"/>
            <a:ext cx="29563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Master key in your KMS</a:t>
            </a:r>
            <a:endParaRPr lang="en-US" sz="1600" dirty="0"/>
          </a:p>
        </p:txBody>
      </p:sp>
      <p:sp>
        <p:nvSpPr>
          <p:cNvPr id="11" name="Text 9"/>
          <p:cNvSpPr/>
          <p:nvPr/>
        </p:nvSpPr>
        <p:spPr>
          <a:xfrm>
            <a:off x="4667250" y="2881412"/>
            <a:ext cx="2956306"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058"/>
                </a:solidFill>
                <a:latin typeface="Arial" pitchFamily="34" charset="0"/>
                <a:ea typeface="Arial" pitchFamily="34" charset="-122"/>
                <a:cs typeface="Arial" pitchFamily="34" charset="-120"/>
              </a:rPr>
              <a:t>Vault, AWS KMS, Google Cloud KMS or Azure Key Vault holds the key that unlocks them. A copied config file or backup is useless on its own.</a:t>
            </a:r>
            <a:endParaRPr lang="en-US" sz="1200" dirty="0"/>
          </a:p>
        </p:txBody>
      </p:sp>
      <p:sp>
        <p:nvSpPr>
          <p:cNvPr id="12" name="Shape 10"/>
          <p:cNvSpPr/>
          <p:nvPr/>
        </p:nvSpPr>
        <p:spPr>
          <a:xfrm>
            <a:off x="8001000" y="1960761"/>
            <a:ext cx="3378200" cy="3881239"/>
          </a:xfrm>
          <a:prstGeom prst="roundRect">
            <a:avLst>
              <a:gd name="adj" fmla="val 3759"/>
            </a:avLst>
          </a:prstGeom>
          <a:solidFill>
            <a:srgbClr val="16191E"/>
          </a:solidFill>
          <a:ln/>
        </p:spPr>
      </p:sp>
      <p:sp>
        <p:nvSpPr>
          <p:cNvPr id="13" name="Text 11"/>
          <p:cNvSpPr/>
          <p:nvPr/>
        </p:nvSpPr>
        <p:spPr>
          <a:xfrm>
            <a:off x="8255000" y="2214761"/>
            <a:ext cx="2956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B544"/>
                </a:solidFill>
                <a:latin typeface="Arial" pitchFamily="34" charset="0"/>
                <a:ea typeface="Arial" pitchFamily="34" charset="-122"/>
                <a:cs typeface="Arial" pitchFamily="34" charset="-120"/>
              </a:rPr>
              <a:t>Self-hosted Enterprise</a:t>
            </a:r>
            <a:endParaRPr lang="en-US" sz="1200" dirty="0"/>
          </a:p>
        </p:txBody>
      </p:sp>
      <p:sp>
        <p:nvSpPr>
          <p:cNvPr id="14" name="Text 12"/>
          <p:cNvSpPr/>
          <p:nvPr/>
        </p:nvSpPr>
        <p:spPr>
          <a:xfrm>
            <a:off x="8255000" y="2529681"/>
            <a:ext cx="29563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CEFF3"/>
                </a:solidFill>
                <a:latin typeface="Arial" pitchFamily="34" charset="0"/>
                <a:ea typeface="Arial" pitchFamily="34" charset="-122"/>
                <a:cs typeface="Arial" pitchFamily="34" charset="-120"/>
              </a:rPr>
              <a:t>Keys never stored</a:t>
            </a:r>
            <a:endParaRPr lang="en-US" sz="1600" dirty="0"/>
          </a:p>
        </p:txBody>
      </p:sp>
      <p:sp>
        <p:nvSpPr>
          <p:cNvPr id="15" name="Text 13"/>
          <p:cNvSpPr/>
          <p:nvPr/>
        </p:nvSpPr>
        <p:spPr>
          <a:xfrm>
            <a:off x="8255000" y="2875062"/>
            <a:ext cx="2956306" cy="135116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C0CB"/>
                </a:solidFill>
                <a:latin typeface="Arial" pitchFamily="34" charset="0"/>
                <a:ea typeface="Arial" pitchFamily="34" charset="-122"/>
                <a:cs typeface="Arial" pitchFamily="34" charset="-120"/>
              </a:rPr>
              <a:t>Save a reference such as vault://secret/data/stripe instead of the key. It is fetched from your secrets manager when a call needs it, kept in memory for five minutes, never written down.</a:t>
            </a:r>
            <a:endParaRPr lang="en-US" sz="12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Arial" pitchFamily="34" charset="0"/>
                <a:ea typeface="Arial" pitchFamily="34" charset="-122"/>
                <a:cs typeface="Arial" pitchFamily="34" charset="-120"/>
              </a:rPr>
              <a:t>Details: agentraas.io/docs#kms and agentraas.io/docs#secret-refs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6A08"/>
                </a:solidFill>
                <a:latin typeface="Arial" pitchFamily="34" charset="0"/>
                <a:ea typeface="Arial" pitchFamily="34" charset="-122"/>
                <a:cs typeface="Arial" pitchFamily="34" charset="-120"/>
              </a:rPr>
              <a:t>OPEN SOURCE</a:t>
            </a:r>
            <a:endParaRPr lang="en-US" sz="1200" dirty="0"/>
          </a:p>
        </p:txBody>
      </p:sp>
      <p:sp>
        <p:nvSpPr>
          <p:cNvPr id="3" name="Text 1"/>
          <p:cNvSpPr/>
          <p:nvPr>
            <p:ph type="title"/>
          </p:nvPr>
        </p:nvSpPr>
        <p:spPr>
          <a:xfrm>
            <a:off x="812800" y="1153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E"/>
                </a:solidFill>
                <a:latin typeface="Arial" pitchFamily="34" charset="0"/>
                <a:ea typeface="Arial" pitchFamily="34" charset="-122"/>
                <a:cs typeface="Arial" pitchFamily="34" charset="-120"/>
              </a:rPr>
              <a:t>Open source, free to self-host</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73461"/>
          <a:ext cx="10553700" cy="2613521"/>
        </p:xfrm>
        <a:graphic>
          <a:graphicData uri="http://schemas.openxmlformats.org/drawingml/2006/table">
            <a:tbl>
              <a:tblPr/>
              <a:tblGrid>
                <a:gridCol w="3517900"/>
                <a:gridCol w="3517900"/>
                <a:gridCol w="3517900"/>
              </a:tblGrid>
              <a:tr h="487660">
                <a:tc>
                  <a:txBody>
                    <a:bodyPr/>
                    <a:lstStyle/>
                    <a:p>
                      <a:pPr indent="0" marL="0">
                        <a:lnSpc>
                          <a:spcPts val="1680"/>
                        </a:lnSpc>
                        <a:buNone/>
                      </a:pPr>
                      <a:r>
                        <a:rPr lang="en-US" sz="1200" b="1" dirty="0">
                          <a:solidFill>
                            <a:srgbClr val="16191E"/>
                          </a:solidFill>
                          <a:latin typeface="Arial" pitchFamily="34" charset="0"/>
                          <a:ea typeface="Arial" pitchFamily="34" charset="-122"/>
                          <a:cs typeface="Arial" pitchFamily="34" charset="-120"/>
                        </a:rPr>
                        <a:t>Part</a:t>
                      </a:r>
                      <a:endParaRPr lang="en-US" sz="1200" dirty="0">
                        <a:latin typeface="Arial" charset="0"/>
                        <a:ea typeface="Arial" charset="0"/>
                        <a:cs typeface="Arial"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6191E"/>
                          </a:solidFill>
                          <a:latin typeface="Arial" pitchFamily="34" charset="0"/>
                          <a:ea typeface="Arial" pitchFamily="34" charset="-122"/>
                          <a:cs typeface="Arial" pitchFamily="34" charset="-120"/>
                        </a:rPr>
                        <a:t>License</a:t>
                      </a:r>
                      <a:endParaRPr lang="en-US" sz="1200" dirty="0">
                        <a:latin typeface="Arial" charset="0"/>
                        <a:ea typeface="Arial" charset="0"/>
                        <a:cs typeface="Arial" charset="0"/>
                      </a:endParaRPr>
                    </a:p>
                  </a:txBody>
                  <a:tcPr marL="152400" marR="152400" marT="127000" marB="1270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16191E"/>
                          </a:solidFill>
                          <a:latin typeface="Arial" pitchFamily="34" charset="0"/>
                          <a:ea typeface="Arial" pitchFamily="34" charset="-122"/>
                          <a:cs typeface="Arial" pitchFamily="34" charset="-120"/>
                        </a:rPr>
                        <a:t>In plain words</a:t>
                      </a:r>
                      <a:endParaRPr lang="en-US" sz="1200" dirty="0">
                        <a:latin typeface="Arial" charset="0"/>
                        <a:ea typeface="Arial" charset="0"/>
                        <a:cs typeface="Arial" charset="0"/>
                      </a:endParaRPr>
                    </a:p>
                  </a:txBody>
                  <a:tcPr marL="152400" marR="152400" marT="127000" marB="1270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708620">
                <a:tc>
                  <a:txBody>
                    <a:bodyPr/>
                    <a:lstStyle/>
                    <a:p>
                      <a:pPr indent="0" marL="0">
                        <a:lnSpc>
                          <a:spcPts val="1680"/>
                        </a:lnSpc>
                        <a:buNone/>
                      </a:pPr>
                      <a:r>
                        <a:rPr lang="en-US" sz="1200" dirty="0">
                          <a:solidFill>
                            <a:srgbClr val="16191E"/>
                          </a:solidFill>
                          <a:latin typeface="Arial" pitchFamily="34" charset="0"/>
                          <a:ea typeface="Arial" pitchFamily="34" charset="-122"/>
                          <a:cs typeface="Arial" pitchFamily="34" charset="-120"/>
                        </a:rPr>
                        <a:t>The server</a:t>
                      </a:r>
                      <a:endParaRPr lang="en-US" sz="1200" dirty="0">
                        <a:latin typeface="Arial" charset="0"/>
                        <a:ea typeface="Arial" charset="0"/>
                        <a:cs typeface="Arial"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6191E"/>
                          </a:solidFill>
                          <a:latin typeface="Arial" pitchFamily="34" charset="0"/>
                          <a:ea typeface="Arial" pitchFamily="34" charset="-122"/>
                          <a:cs typeface="Arial" pitchFamily="34" charset="-120"/>
                        </a:rPr>
                        <a:t>AGPL-3.0</a:t>
                      </a:r>
                      <a:endParaRPr lang="en-US" sz="1200" dirty="0">
                        <a:latin typeface="Arial" charset="0"/>
                        <a:ea typeface="Arial" charset="0"/>
                        <a:cs typeface="Arial"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058"/>
                          </a:solidFill>
                          <a:latin typeface="Arial" pitchFamily="34" charset="0"/>
                          <a:ea typeface="Arial" pitchFamily="34" charset="-122"/>
                          <a:cs typeface="Arial" pitchFamily="34" charset="-120"/>
                        </a:rPr>
                        <a:t>Use, change and run it for anything. Share your changes if you offer them over a network.</a:t>
                      </a:r>
                      <a:endParaRPr lang="en-US" sz="1200" dirty="0">
                        <a:latin typeface="Arial" charset="0"/>
                        <a:ea typeface="Arial" charset="0"/>
                        <a:cs typeface="Arial"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929580">
                <a:tc>
                  <a:txBody>
                    <a:bodyPr/>
                    <a:lstStyle/>
                    <a:p>
                      <a:pPr indent="0" marL="0">
                        <a:lnSpc>
                          <a:spcPts val="1680"/>
                        </a:lnSpc>
                        <a:buNone/>
                      </a:pPr>
                      <a:r>
                        <a:rPr lang="en-US" sz="1200" dirty="0">
                          <a:solidFill>
                            <a:srgbClr val="16191E"/>
                          </a:solidFill>
                          <a:latin typeface="Arial" pitchFamily="34" charset="0"/>
                          <a:ea typeface="Arial" pitchFamily="34" charset="-122"/>
                          <a:cs typeface="Arial" pitchFamily="34" charset="-120"/>
                        </a:rPr>
                        <a:t>Team and Enterprise features</a:t>
                      </a:r>
                      <a:endParaRPr lang="en-US" sz="1200" dirty="0">
                        <a:latin typeface="Arial" charset="0"/>
                        <a:ea typeface="Arial" charset="0"/>
                        <a:cs typeface="Arial"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6191E"/>
                          </a:solidFill>
                          <a:latin typeface="Arial" pitchFamily="34" charset="0"/>
                          <a:ea typeface="Arial" pitchFamily="34" charset="-122"/>
                          <a:cs typeface="Arial" pitchFamily="34" charset="-120"/>
                        </a:rPr>
                        <a:t>Source-available</a:t>
                      </a:r>
                      <a:endParaRPr lang="en-US" sz="1200" dirty="0">
                        <a:latin typeface="Arial" charset="0"/>
                        <a:ea typeface="Arial" charset="0"/>
                        <a:cs typeface="Arial"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058"/>
                          </a:solidFill>
                          <a:latin typeface="Arial" pitchFamily="34" charset="0"/>
                          <a:ea typeface="Arial" pitchFamily="34" charset="-122"/>
                          <a:cs typeface="Arial" pitchFamily="34" charset="-120"/>
                        </a:rPr>
                        <a:t>Team features are free in production on your own servers. Enterprise features need a license.</a:t>
                      </a:r>
                      <a:endParaRPr lang="en-US" sz="1200" dirty="0">
                        <a:latin typeface="Arial" charset="0"/>
                        <a:ea typeface="Arial" charset="0"/>
                        <a:cs typeface="Arial"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87660">
                <a:tc>
                  <a:txBody>
                    <a:bodyPr/>
                    <a:lstStyle/>
                    <a:p>
                      <a:pPr indent="0" marL="0">
                        <a:lnSpc>
                          <a:spcPts val="1680"/>
                        </a:lnSpc>
                        <a:buNone/>
                      </a:pPr>
                      <a:r>
                        <a:rPr lang="en-US" sz="1200" dirty="0">
                          <a:solidFill>
                            <a:srgbClr val="16191E"/>
                          </a:solidFill>
                          <a:latin typeface="Arial" pitchFamily="34" charset="0"/>
                          <a:ea typeface="Arial" pitchFamily="34" charset="-122"/>
                          <a:cs typeface="Arial" pitchFamily="34" charset="-120"/>
                        </a:rPr>
                        <a:t>SDKs and tools</a:t>
                      </a:r>
                      <a:endParaRPr lang="en-US" sz="1200" dirty="0">
                        <a:latin typeface="Arial" charset="0"/>
                        <a:ea typeface="Arial" charset="0"/>
                        <a:cs typeface="Arial"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6191E"/>
                          </a:solidFill>
                          <a:latin typeface="Arial" pitchFamily="34" charset="0"/>
                          <a:ea typeface="Arial" pitchFamily="34" charset="-122"/>
                          <a:cs typeface="Arial" pitchFamily="34" charset="-120"/>
                        </a:rPr>
                        <a:t>MIT or Apache-2.0</a:t>
                      </a:r>
                      <a:endParaRPr lang="en-US" sz="1200" dirty="0">
                        <a:latin typeface="Arial" charset="0"/>
                        <a:ea typeface="Arial" charset="0"/>
                        <a:cs typeface="Arial"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4A5058"/>
                          </a:solidFill>
                          <a:latin typeface="Arial" pitchFamily="34" charset="0"/>
                          <a:ea typeface="Arial" pitchFamily="34" charset="-122"/>
                          <a:cs typeface="Arial" pitchFamily="34" charset="-120"/>
                        </a:rPr>
                        <a:t>No conditions beyond keeping the notice.</a:t>
                      </a:r>
                      <a:endParaRPr lang="en-US" sz="1200" dirty="0">
                        <a:latin typeface="Arial" charset="0"/>
                        <a:ea typeface="Arial" charset="0"/>
                        <a:cs typeface="Arial" charset="0"/>
                      </a:endParaRPr>
                    </a:p>
                  </a:txBody>
                  <a:tcPr marL="152400" marR="152400" marT="127000" marB="1270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89178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6191E"/>
                </a:solidFill>
                <a:latin typeface="Arial" pitchFamily="34" charset="0"/>
                <a:ea typeface="Arial" pitchFamily="34" charset="-122"/>
                <a:cs typeface="Arial" pitchFamily="34" charset="-120"/>
              </a:rPr>
              <a:t>Self-hosting needs no license key and has no action limit, approvals and SSO included.</a:t>
            </a:r>
            <a:endParaRPr lang="en-US" sz="16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Arial" pitchFamily="34" charset="0"/>
                <a:ea typeface="Arial" pitchFamily="34" charset="-122"/>
                <a:cs typeface="Arial" pitchFamily="34" charset="-120"/>
              </a:rPr>
              <a:t>Details: LICENSE.md in github.com/agentraas/agentraas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A6A08"/>
                </a:solidFill>
                <a:latin typeface="Arial" pitchFamily="34" charset="0"/>
                <a:ea typeface="Arial" pitchFamily="34" charset="-122"/>
                <a:cs typeface="Arial" pitchFamily="34" charset="-120"/>
              </a:rPr>
              <a:t>AVAILABLE TODAY</a:t>
            </a:r>
            <a:endParaRPr lang="en-US" sz="1200" dirty="0"/>
          </a:p>
        </p:txBody>
      </p:sp>
      <p:sp>
        <p:nvSpPr>
          <p:cNvPr id="3" name="Text 1"/>
          <p:cNvSpPr/>
          <p:nvPr>
            <p:ph type="title"/>
          </p:nvPr>
        </p:nvSpPr>
        <p:spPr>
          <a:xfrm>
            <a:off x="812800" y="1153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6191E"/>
                </a:solidFill>
                <a:latin typeface="Arial" pitchFamily="34" charset="0"/>
                <a:ea typeface="Arial" pitchFamily="34" charset="-122"/>
                <a:cs typeface="Arial" pitchFamily="34" charset="-120"/>
              </a:rPr>
              <a:t>Built, live and ready to try</a:t>
            </a:r>
            <a:endParaRPr lang="en-US" sz="3600" dirty="0"/>
          </a:p>
        </p:txBody>
      </p:sp>
      <p:sp>
        <p:nvSpPr>
          <p:cNvPr id="4" name="Shape 2"/>
          <p:cNvSpPr/>
          <p:nvPr/>
        </p:nvSpPr>
        <p:spPr>
          <a:xfrm>
            <a:off x="815975" y="2014736"/>
            <a:ext cx="5181600" cy="4027289"/>
          </a:xfrm>
          <a:prstGeom prst="roundRect">
            <a:avLst>
              <a:gd name="adj" fmla="val 3075"/>
            </a:avLst>
          </a:prstGeom>
          <a:solidFill>
            <a:srgbClr val="F7F6F2"/>
          </a:solidFill>
          <a:ln w="6350">
            <a:solidFill>
              <a:srgbClr val="DDD8CC"/>
            </a:solidFill>
            <a:prstDash val="solid"/>
          </a:ln>
        </p:spPr>
      </p:sp>
      <p:sp>
        <p:nvSpPr>
          <p:cNvPr id="5" name="Text 3"/>
          <p:cNvSpPr/>
          <p:nvPr/>
        </p:nvSpPr>
        <p:spPr>
          <a:xfrm>
            <a:off x="1073150" y="2271911"/>
            <a:ext cx="48072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91E"/>
                </a:solidFill>
                <a:latin typeface="Arial" pitchFamily="34" charset="0"/>
                <a:ea typeface="Arial" pitchFamily="34" charset="-122"/>
                <a:cs typeface="Arial" pitchFamily="34" charset="-120"/>
              </a:rPr>
              <a:t>What you get</a:t>
            </a:r>
            <a:endParaRPr lang="en-US" sz="1600" dirty="0"/>
          </a:p>
        </p:txBody>
      </p:sp>
      <p:sp>
        <p:nvSpPr>
          <p:cNvPr id="6" name="Text 4"/>
          <p:cNvSpPr/>
          <p:nvPr/>
        </p:nvSpPr>
        <p:spPr>
          <a:xfrm>
            <a:off x="1073150" y="2642691"/>
            <a:ext cx="4807268" cy="1731863"/>
          </a:xfrm>
          <a:prstGeom prst="rect">
            <a:avLst/>
          </a:prstGeom>
          <a:noFill/>
          <a:ln/>
        </p:spPr>
        <p:txBody>
          <a:bodyPr wrap="square" lIns="0" tIns="0" rIns="0" bIns="0" rtlCol="0" anchor="t">
            <a:normAutofit/>
          </a:bodyPr>
          <a:lstStyle/>
          <a:p>
            <a:pPr algn="l" marL="182880" indent="-142494">
              <a:lnSpc>
                <a:spcPts val="1920"/>
              </a:lnSpc>
              <a:buSzPct val="100000"/>
              <a:buChar char="•"/>
            </a:pPr>
            <a:r>
              <a:rPr lang="en-US" sz="1200" dirty="0">
                <a:solidFill>
                  <a:srgbClr val="4A5058"/>
                </a:solidFill>
                <a:latin typeface="Arial" pitchFamily="34" charset="0"/>
                <a:ea typeface="Arial" pitchFamily="34" charset="-122"/>
                <a:cs typeface="Arial" pitchFamily="34" charset="-120"/>
              </a:rPr>
              <a:t>A Rust gateway running in production</a:t>
            </a:r>
            <a:endParaRPr lang="en-US" sz="1200" dirty="0"/>
          </a:p>
          <a:p>
            <a:pPr algn="l" marL="182880" indent="-142494">
              <a:lnSpc>
                <a:spcPts val="1920"/>
              </a:lnSpc>
              <a:buSzPct val="100000"/>
              <a:buChar char="•"/>
            </a:pPr>
            <a:r>
              <a:rPr lang="en-US" sz="1200" dirty="0">
                <a:solidFill>
                  <a:srgbClr val="4A5058"/>
                </a:solidFill>
                <a:latin typeface="Arial" pitchFamily="34" charset="0"/>
                <a:ea typeface="Arial" pitchFamily="34" charset="-122"/>
                <a:cs typeface="Arial" pitchFamily="34" charset="-120"/>
              </a:rPr>
              <a:t>31 services ready to connect: paste a key, copy a URL</a:t>
            </a:r>
            <a:endParaRPr lang="en-US" sz="1200" dirty="0"/>
          </a:p>
          <a:p>
            <a:pPr algn="l" marL="182880" indent="-142494">
              <a:lnSpc>
                <a:spcPts val="1920"/>
              </a:lnSpc>
              <a:buSzPct val="100000"/>
              <a:buChar char="•"/>
            </a:pPr>
            <a:r>
              <a:rPr lang="en-US" sz="1200" dirty="0">
                <a:solidFill>
                  <a:srgbClr val="4A5058"/>
                </a:solidFill>
                <a:latin typeface="Arial" pitchFamily="34" charset="0"/>
                <a:ea typeface="Arial" pitchFamily="34" charset="-122"/>
                <a:cs typeface="Arial" pitchFamily="34" charset="-120"/>
              </a:rPr>
              <a:t>Python SDK on PyPI, TypeScript SDK on npm</a:t>
            </a:r>
            <a:endParaRPr lang="en-US" sz="1200" dirty="0"/>
          </a:p>
          <a:p>
            <a:pPr algn="l" marL="182880" indent="-142494">
              <a:lnSpc>
                <a:spcPts val="1920"/>
              </a:lnSpc>
              <a:buSzPct val="100000"/>
              <a:buChar char="•"/>
            </a:pPr>
            <a:r>
              <a:rPr lang="en-US" sz="1200" dirty="0">
                <a:solidFill>
                  <a:srgbClr val="4A5058"/>
                </a:solidFill>
                <a:latin typeface="Arial" pitchFamily="34" charset="0"/>
                <a:ea typeface="Arial" pitchFamily="34" charset="-122"/>
                <a:cs typeface="Arial" pitchFamily="34" charset="-120"/>
              </a:rPr>
              <a:t>Webhook, SDK and MCP integration</a:t>
            </a:r>
            <a:endParaRPr lang="en-US" sz="1200" dirty="0"/>
          </a:p>
          <a:p>
            <a:pPr algn="l" marL="182880" indent="-142494">
              <a:lnSpc>
                <a:spcPts val="1920"/>
              </a:lnSpc>
              <a:buSzPct val="100000"/>
              <a:buChar char="•"/>
            </a:pPr>
            <a:r>
              <a:rPr lang="en-US" sz="1200" dirty="0">
                <a:solidFill>
                  <a:srgbClr val="4A5058"/>
                </a:solidFill>
                <a:latin typeface="Arial" pitchFamily="34" charset="0"/>
                <a:ea typeface="Arial" pitchFamily="34" charset="-122"/>
                <a:cs typeface="Arial" pitchFamily="34" charset="-120"/>
              </a:rPr>
              <a:t>Open source (AGPL), free to self-host on Linux, macOS or Windows</a:t>
            </a:r>
            <a:endParaRPr lang="en-US" sz="1200" dirty="0"/>
          </a:p>
          <a:p>
            <a:pPr algn="l" marL="182880" indent="-142494">
              <a:lnSpc>
                <a:spcPts val="1920"/>
              </a:lnSpc>
              <a:buSzPct val="100000"/>
              <a:buChar char="•"/>
            </a:pPr>
            <a:r>
              <a:rPr lang="en-US" sz="1200" dirty="0">
                <a:solidFill>
                  <a:srgbClr val="4A5058"/>
                </a:solidFill>
                <a:latin typeface="Arial" pitchFamily="34" charset="0"/>
                <a:ea typeface="Arial" pitchFamily="34" charset="-122"/>
                <a:cs typeface="Arial" pitchFamily="34" charset="-120"/>
              </a:rPr>
              <a:t>Helm chart, rules as code in Git</a:t>
            </a:r>
            <a:endParaRPr lang="en-US" sz="1200" dirty="0"/>
          </a:p>
        </p:txBody>
      </p:sp>
      <p:sp>
        <p:nvSpPr>
          <p:cNvPr id="7" name="Shape 5"/>
          <p:cNvSpPr/>
          <p:nvPr/>
        </p:nvSpPr>
        <p:spPr>
          <a:xfrm>
            <a:off x="6203950" y="2011561"/>
            <a:ext cx="5175250" cy="4033639"/>
          </a:xfrm>
          <a:prstGeom prst="roundRect">
            <a:avLst>
              <a:gd name="adj" fmla="val 3149"/>
            </a:avLst>
          </a:prstGeom>
          <a:solidFill>
            <a:srgbClr val="16191E"/>
          </a:solidFill>
          <a:ln/>
        </p:spPr>
      </p:sp>
      <p:sp>
        <p:nvSpPr>
          <p:cNvPr id="8" name="Text 6"/>
          <p:cNvSpPr/>
          <p:nvPr/>
        </p:nvSpPr>
        <p:spPr>
          <a:xfrm>
            <a:off x="6457950" y="2265561"/>
            <a:ext cx="480726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B544"/>
                </a:solidFill>
                <a:latin typeface="Arial" pitchFamily="34" charset="0"/>
                <a:ea typeface="Arial" pitchFamily="34" charset="-122"/>
                <a:cs typeface="Arial" pitchFamily="34" charset="-120"/>
              </a:rPr>
              <a:t>Where to find it</a:t>
            </a:r>
            <a:endParaRPr lang="en-US" sz="1600" dirty="0"/>
          </a:p>
        </p:txBody>
      </p:sp>
      <p:sp>
        <p:nvSpPr>
          <p:cNvPr id="9" name="Text 7"/>
          <p:cNvSpPr/>
          <p:nvPr/>
        </p:nvSpPr>
        <p:spPr>
          <a:xfrm>
            <a:off x="6457950" y="2636341"/>
            <a:ext cx="4807268" cy="1488083"/>
          </a:xfrm>
          <a:prstGeom prst="rect">
            <a:avLst/>
          </a:prstGeom>
          <a:noFill/>
          <a:ln/>
        </p:spPr>
        <p:txBody>
          <a:bodyPr wrap="square" lIns="0" tIns="0" rIns="0" bIns="0" rtlCol="0" anchor="t">
            <a:normAutofit/>
          </a:bodyPr>
          <a:lstStyle/>
          <a:p>
            <a:pPr algn="l" marL="182880" indent="-142494">
              <a:lnSpc>
                <a:spcPts val="1920"/>
              </a:lnSpc>
              <a:buSzPct val="100000"/>
              <a:buChar char="•"/>
            </a:pPr>
            <a:r>
              <a:rPr lang="en-US" sz="1200" dirty="0">
                <a:solidFill>
                  <a:srgbClr val="ECEFF3"/>
                </a:solidFill>
                <a:latin typeface="Arial" pitchFamily="34" charset="0"/>
                <a:ea typeface="Arial" pitchFamily="34" charset="-122"/>
                <a:cs typeface="Arial" pitchFamily="34" charset="-120"/>
              </a:rPr>
              <a:t>Live demo, no signup: agentraas.io</a:t>
            </a:r>
            <a:endParaRPr lang="en-US" sz="1200" dirty="0"/>
          </a:p>
          <a:p>
            <a:pPr algn="l" marL="182880" indent="-142494">
              <a:lnSpc>
                <a:spcPts val="1920"/>
              </a:lnSpc>
              <a:buSzPct val="100000"/>
              <a:buChar char="•"/>
            </a:pPr>
            <a:r>
              <a:rPr lang="en-US" sz="1200" dirty="0">
                <a:solidFill>
                  <a:srgbClr val="ECEFF3"/>
                </a:solidFill>
                <a:latin typeface="Arial" pitchFamily="34" charset="0"/>
                <a:ea typeface="Arial" pitchFamily="34" charset="-122"/>
                <a:cs typeface="Arial" pitchFamily="34" charset="-120"/>
              </a:rPr>
              <a:t>Docs: agentraas.io/docs</a:t>
            </a:r>
            <a:endParaRPr lang="en-US" sz="1200" dirty="0"/>
          </a:p>
          <a:p>
            <a:pPr algn="l" marL="182880" indent="-142494">
              <a:lnSpc>
                <a:spcPts val="1920"/>
              </a:lnSpc>
              <a:buSzPct val="100000"/>
              <a:buChar char="•"/>
            </a:pPr>
            <a:r>
              <a:rPr lang="en-US" sz="1200" dirty="0">
                <a:solidFill>
                  <a:srgbClr val="ECEFF3"/>
                </a:solidFill>
                <a:latin typeface="Arial" pitchFamily="34" charset="0"/>
                <a:ea typeface="Arial" pitchFamily="34" charset="-122"/>
                <a:cs typeface="Arial" pitchFamily="34" charset="-120"/>
              </a:rPr>
              <a:t>Install: pip install agentraas</a:t>
            </a:r>
            <a:endParaRPr lang="en-US" sz="1200" dirty="0"/>
          </a:p>
          <a:p>
            <a:pPr algn="l" marL="182880" indent="-142494">
              <a:lnSpc>
                <a:spcPts val="1920"/>
              </a:lnSpc>
              <a:buSzPct val="100000"/>
              <a:buChar char="•"/>
            </a:pPr>
            <a:r>
              <a:rPr lang="en-US" sz="1200" dirty="0">
                <a:solidFill>
                  <a:srgbClr val="ECEFF3"/>
                </a:solidFill>
                <a:latin typeface="Arial" pitchFamily="34" charset="0"/>
                <a:ea typeface="Arial" pitchFamily="34" charset="-122"/>
                <a:cs typeface="Arial" pitchFamily="34" charset="-120"/>
              </a:rPr>
              <a:t>Or: npm install agentraas</a:t>
            </a:r>
            <a:endParaRPr lang="en-US" sz="1200" dirty="0"/>
          </a:p>
          <a:p>
            <a:pPr algn="l" marL="182880" indent="-142494">
              <a:lnSpc>
                <a:spcPts val="1920"/>
              </a:lnSpc>
              <a:buSzPct val="100000"/>
              <a:buChar char="•"/>
            </a:pPr>
            <a:r>
              <a:rPr lang="en-US" sz="1200" dirty="0">
                <a:solidFill>
                  <a:srgbClr val="ECEFF3"/>
                </a:solidFill>
                <a:latin typeface="Arial" pitchFamily="34" charset="0"/>
                <a:ea typeface="Arial" pitchFamily="34" charset="-122"/>
                <a:cs typeface="Arial" pitchFamily="34" charset="-120"/>
              </a:rPr>
              <a:t>Source: github.com/agentraas/agentraas</a:t>
            </a:r>
            <a:endParaRPr lang="en-US" sz="1200" dirty="0"/>
          </a:p>
          <a:p>
            <a:pPr algn="l" marL="182880" indent="-142494">
              <a:lnSpc>
                <a:spcPts val="1920"/>
              </a:lnSpc>
              <a:buSzPct val="100000"/>
              <a:buChar char="•"/>
            </a:pPr>
            <a:r>
              <a:rPr lang="en-US" sz="1200" dirty="0">
                <a:solidFill>
                  <a:srgbClr val="ECEFF3"/>
                </a:solidFill>
                <a:latin typeface="Arial" pitchFamily="34" charset="0"/>
                <a:ea typeface="Arial" pitchFamily="34" charset="-122"/>
                <a:cs typeface="Arial" pitchFamily="34" charset="-120"/>
              </a:rPr>
              <a:t>Official MCP Registry: io.github.agentraas/agentraas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9150" y="1367830"/>
            <a:ext cx="647700" cy="647700"/>
          </a:xfrm>
          <a:prstGeom prst="roundRect">
            <a:avLst>
              <a:gd name="adj" fmla="val 22549"/>
            </a:avLst>
          </a:prstGeom>
          <a:solidFill>
            <a:srgbClr val="1E2229"/>
          </a:solidFill>
          <a:ln w="12700">
            <a:solidFill>
              <a:srgbClr val="2E343C"/>
            </a:solidFill>
            <a:prstDash val="solid"/>
          </a:ln>
        </p:spPr>
      </p:sp>
      <p:pic>
        <p:nvPicPr>
          <p:cNvPr id="3" name="Image 0" descr="ellipse">    </p:cNvPr>
          <p:cNvPicPr>
            <a:picLocks noChangeAspect="1"/>
          </p:cNvPicPr>
          <p:nvPr/>
        </p:nvPicPr>
        <p:blipFill>
          <a:blip r:embed="rId1"/>
          <a:srcRect l="0" r="0" t="0" b="0"/>
          <a:stretch/>
        </p:blipFill>
        <p:spPr>
          <a:xfrm>
            <a:off x="908050" y="1545630"/>
            <a:ext cx="292100" cy="292100"/>
          </a:xfrm>
          <a:prstGeom prst="rect">
            <a:avLst/>
          </a:prstGeom>
        </p:spPr>
      </p:pic>
      <p:pic>
        <p:nvPicPr>
          <p:cNvPr id="4" name="Image 1" descr="ellipse">    </p:cNvPr>
          <p:cNvPicPr>
            <a:picLocks noChangeAspect="1"/>
          </p:cNvPicPr>
          <p:nvPr/>
        </p:nvPicPr>
        <p:blipFill>
          <a:blip r:embed="rId2"/>
          <a:srcRect l="0" r="0" t="0" b="0"/>
          <a:stretch/>
        </p:blipFill>
        <p:spPr>
          <a:xfrm>
            <a:off x="1092200" y="1545630"/>
            <a:ext cx="292100" cy="292100"/>
          </a:xfrm>
          <a:prstGeom prst="rect">
            <a:avLst/>
          </a:prstGeom>
        </p:spPr>
      </p:pic>
      <p:sp>
        <p:nvSpPr>
          <p:cNvPr id="5" name="Text 1"/>
          <p:cNvSpPr/>
          <p:nvPr>
            <p:ph type="title"/>
          </p:nvPr>
        </p:nvSpPr>
        <p:spPr>
          <a:xfrm>
            <a:off x="812800" y="232668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6191E"/>
                </a:solidFill>
                <a:latin typeface="Arial" pitchFamily="34" charset="0"/>
                <a:ea typeface="Arial" pitchFamily="34" charset="-122"/>
                <a:cs typeface="Arial" pitchFamily="34" charset="-120"/>
              </a:rPr>
              <a:t>Try it on your agent, free</a:t>
            </a:r>
            <a:endParaRPr lang="en-US" sz="4800" dirty="0"/>
          </a:p>
        </p:txBody>
      </p:sp>
      <p:sp>
        <p:nvSpPr>
          <p:cNvPr id="6" name="Text 2"/>
          <p:cNvSpPr/>
          <p:nvPr/>
        </p:nvSpPr>
        <p:spPr>
          <a:xfrm>
            <a:off x="812800" y="327154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4A5058"/>
                </a:solidFill>
                <a:latin typeface="Arial" pitchFamily="34" charset="0"/>
                <a:ea typeface="Arial" pitchFamily="34" charset="-122"/>
                <a:cs typeface="Arial" pitchFamily="34" charset="-120"/>
              </a:rPr>
              <a:t>See it live, no signup: </a:t>
            </a:r>
            <a:r>
              <a:rPr lang="en-US" sz="2200" dirty="0">
                <a:solidFill>
                  <a:srgbClr val="9A6A08"/>
                </a:solidFill>
                <a:latin typeface="Arial" pitchFamily="34" charset="0"/>
                <a:ea typeface="Arial" pitchFamily="34" charset="-122"/>
                <a:cs typeface="Arial" pitchFamily="34" charset="-120"/>
              </a:rPr>
              <a:t>agentraas.io</a:t>
            </a:r>
            <a:endParaRPr lang="en-US" sz="2200" dirty="0"/>
          </a:p>
        </p:txBody>
      </p:sp>
      <p:sp>
        <p:nvSpPr>
          <p:cNvPr id="7" name="Text 3"/>
          <p:cNvSpPr/>
          <p:nvPr/>
        </p:nvSpPr>
        <p:spPr>
          <a:xfrm>
            <a:off x="812800" y="381506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4A5058"/>
                </a:solidFill>
                <a:latin typeface="Arial" pitchFamily="34" charset="0"/>
                <a:ea typeface="Arial" pitchFamily="34" charset="-122"/>
                <a:cs typeface="Arial" pitchFamily="34" charset="-120"/>
              </a:rPr>
              <a:t>Find duplicate calls: </a:t>
            </a:r>
            <a:r>
              <a:rPr lang="en-US" sz="2200" dirty="0">
                <a:solidFill>
                  <a:srgbClr val="9A6A08"/>
                </a:solidFill>
                <a:latin typeface="Arial" pitchFamily="34" charset="0"/>
                <a:ea typeface="Arial" pitchFamily="34" charset="-122"/>
                <a:cs typeface="Arial" pitchFamily="34" charset="-120"/>
              </a:rPr>
              <a:t>agentraas chaos</a:t>
            </a:r>
            <a:endParaRPr lang="en-US" sz="2200" dirty="0"/>
          </a:p>
        </p:txBody>
      </p:sp>
      <p:sp>
        <p:nvSpPr>
          <p:cNvPr id="8" name="Text 4"/>
          <p:cNvSpPr/>
          <p:nvPr/>
        </p:nvSpPr>
        <p:spPr>
          <a:xfrm>
            <a:off x="812800" y="435858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4A5058"/>
                </a:solidFill>
                <a:latin typeface="Arial" pitchFamily="34" charset="0"/>
                <a:ea typeface="Arial" pitchFamily="34" charset="-122"/>
                <a:cs typeface="Arial" pitchFamily="34" charset="-120"/>
              </a:rPr>
              <a:t>Install: </a:t>
            </a:r>
            <a:r>
              <a:rPr lang="en-US" sz="2200" dirty="0">
                <a:solidFill>
                  <a:srgbClr val="9A6A08"/>
                </a:solidFill>
                <a:latin typeface="Arial" pitchFamily="34" charset="0"/>
                <a:ea typeface="Arial" pitchFamily="34" charset="-122"/>
                <a:cs typeface="Arial" pitchFamily="34" charset="-120"/>
              </a:rPr>
              <a:t>pip or npm install agentraas</a:t>
            </a:r>
            <a:endParaRPr lang="en-US" sz="2200" dirty="0"/>
          </a:p>
        </p:txBody>
      </p:sp>
      <p:sp>
        <p:nvSpPr>
          <p:cNvPr id="9" name="Text 5"/>
          <p:cNvSpPr/>
          <p:nvPr/>
        </p:nvSpPr>
        <p:spPr>
          <a:xfrm>
            <a:off x="812800" y="4902101"/>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4A5058"/>
                </a:solidFill>
                <a:latin typeface="Arial" pitchFamily="34" charset="0"/>
                <a:ea typeface="Arial" pitchFamily="34" charset="-122"/>
                <a:cs typeface="Arial" pitchFamily="34" charset="-120"/>
              </a:rPr>
              <a:t>Self-host free: </a:t>
            </a:r>
            <a:r>
              <a:rPr lang="en-US" sz="2200" dirty="0">
                <a:solidFill>
                  <a:srgbClr val="9A6A08"/>
                </a:solidFill>
                <a:latin typeface="Arial" pitchFamily="34" charset="0"/>
                <a:ea typeface="Arial" pitchFamily="34" charset="-122"/>
                <a:cs typeface="Arial" pitchFamily="34" charset="-120"/>
              </a:rPr>
              <a:t>agentraas.io/self-host</a:t>
            </a:r>
            <a:endParaRPr lang="en-US" sz="2200" dirty="0"/>
          </a:p>
        </p:txBody>
      </p:sp>
      <p:pic>
        <p:nvPicPr>
          <p:cNvPr id="10" name="Image 2" descr="QR code: https://agentraas.io">    </p:cNvPr>
          <p:cNvPicPr>
            <a:picLocks noChangeAspect="1"/>
          </p:cNvPicPr>
          <p:nvPr/>
        </p:nvPicPr>
        <p:blipFill>
          <a:blip r:embed="rId3"/>
          <a:srcRect l="0" r="0" t="0" b="0"/>
          <a:stretch/>
        </p:blipFill>
        <p:spPr>
          <a:xfrm>
            <a:off x="7823200" y="3302000"/>
            <a:ext cx="1524000" cy="1524000"/>
          </a:xfrm>
          <a:prstGeom prst="rect">
            <a:avLst/>
          </a:prstGeom>
        </p:spPr>
      </p:pic>
      <p:sp>
        <p:nvSpPr>
          <p:cNvPr id="11" name="Text 6"/>
          <p:cNvSpPr/>
          <p:nvPr/>
        </p:nvSpPr>
        <p:spPr>
          <a:xfrm>
            <a:off x="8046452" y="4902200"/>
            <a:ext cx="1077397"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058"/>
                </a:solidFill>
                <a:latin typeface="Arial" pitchFamily="34" charset="0"/>
                <a:ea typeface="Arial" pitchFamily="34" charset="-122"/>
                <a:cs typeface="Arial" pitchFamily="34" charset="-120"/>
              </a:rPr>
              <a:t>agentraas.io</a:t>
            </a:r>
            <a:endParaRPr lang="en-US" sz="1200" dirty="0"/>
          </a:p>
        </p:txBody>
      </p:sp>
      <p:pic>
        <p:nvPicPr>
          <p:cNvPr id="12" name="Image 3" descr="QR code: https://github.com/agentraas/agentraas">    </p:cNvPr>
          <p:cNvPicPr>
            <a:picLocks noChangeAspect="1"/>
          </p:cNvPicPr>
          <p:nvPr/>
        </p:nvPicPr>
        <p:blipFill>
          <a:blip r:embed="rId4"/>
          <a:srcRect l="0" r="0" t="0" b="0"/>
          <a:stretch/>
        </p:blipFill>
        <p:spPr>
          <a:xfrm>
            <a:off x="9855200" y="3302000"/>
            <a:ext cx="1524000" cy="1524000"/>
          </a:xfrm>
          <a:prstGeom prst="rect">
            <a:avLst/>
          </a:prstGeom>
        </p:spPr>
      </p:pic>
      <p:sp>
        <p:nvSpPr>
          <p:cNvPr id="13" name="Text 7"/>
          <p:cNvSpPr/>
          <p:nvPr/>
        </p:nvSpPr>
        <p:spPr>
          <a:xfrm>
            <a:off x="10312410" y="4902200"/>
            <a:ext cx="609481"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A5058"/>
                </a:solidFill>
                <a:latin typeface="Arial" pitchFamily="34" charset="0"/>
                <a:ea typeface="Arial" pitchFamily="34" charset="-122"/>
                <a:cs typeface="Arial" pitchFamily="34" charset="-120"/>
              </a:rPr>
              <a:t>GitHub</a:t>
            </a:r>
            <a:endParaRPr lang="en-US" sz="1200" dirty="0"/>
          </a:p>
        </p:txBody>
      </p:sp>
      <p:sp>
        <p:nvSpPr>
          <p:cNvPr id="14"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Arial" pitchFamily="34" charset="0"/>
                <a:ea typeface="Arial" pitchFamily="34" charset="-122"/>
                <a:cs typeface="Arial" pitchFamily="34" charset="-120"/>
              </a:rPr>
              <a:t>agentraas.io · hello@agentraas.io · github.com/agentraas/agentraas</a:t>
            </a:r>
            <a:endParaRPr lang="en-US" sz="1200" dirty="0"/>
          </a:p>
        </p:txBody>
      </p:sp>
    </p:spTree>
  </p:cSld>
  <p:clrMapOvr>
    <a:masterClrMapping/>
  </p:clrMapOvr>
</p:sld>
</file>

<file path=ppt/theme/theme1.xml><?xml version="1.0" encoding="utf-8"?>
<a:theme xmlns:a="http://schemas.openxmlformats.org/drawingml/2006/main" name="AgentRaaS">
  <a:themeElements>
    <a:clrScheme name="AgentRaaS">
      <a:dk1>
        <a:srgbClr val="16191E"/>
      </a:dk1>
      <a:lt1>
        <a:srgbClr val="FFFFFF"/>
      </a:lt1>
      <a:dk2>
        <a:srgbClr val="505356"/>
      </a:dk2>
      <a:lt2>
        <a:srgbClr val="E8E8E9"/>
      </a:lt2>
      <a:accent1>
        <a:srgbClr val="9A6A08"/>
      </a:accent1>
      <a:accent2>
        <a:srgbClr val="F2B544"/>
      </a:accent2>
      <a:accent3>
        <a:srgbClr val="4A5058"/>
      </a:accent3>
      <a:accent4>
        <a:srgbClr val="B8C0CB"/>
      </a:accent4>
      <a:accent5>
        <a:srgbClr val="6A7079"/>
      </a:accent5>
      <a:accent6>
        <a:srgbClr val="9AA0A6"/>
      </a:accent6>
      <a:hlink>
        <a:srgbClr val="0563C1"/>
      </a:hlink>
      <a:folHlink>
        <a:srgbClr val="954F72"/>
      </a:folHlink>
    </a:clrScheme>
    <a:fontScheme name="AgentRaa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AgentRaaS</dc:title>
  <dc:subject/>
  <dc:creator/>
  <cp:lastModifiedBy/>
  <cp:revision>1</cp:revision>
  <dcterms:created xsi:type="dcterms:W3CDTF">2026-10-21T08:03:01Z</dcterms:created>
  <dcterms:modified xsi:type="dcterms:W3CDTF">2026-10-21T08:03:01Z</dcterms:modified>
</cp:coreProperties>
</file>